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notesMasterIdLst>
    <p:notesMasterId r:id="rId24"/>
  </p:notesMasterIdLst>
  <p:sldIdLst>
    <p:sldId id="712" r:id="rId2"/>
    <p:sldId id="714" r:id="rId3"/>
    <p:sldId id="713" r:id="rId4"/>
    <p:sldId id="318" r:id="rId5"/>
    <p:sldId id="715" r:id="rId6"/>
    <p:sldId id="733" r:id="rId7"/>
    <p:sldId id="729" r:id="rId8"/>
    <p:sldId id="726" r:id="rId9"/>
    <p:sldId id="730" r:id="rId10"/>
    <p:sldId id="734" r:id="rId11"/>
    <p:sldId id="735" r:id="rId12"/>
    <p:sldId id="736" r:id="rId13"/>
    <p:sldId id="737" r:id="rId14"/>
    <p:sldId id="738" r:id="rId15"/>
    <p:sldId id="739" r:id="rId16"/>
    <p:sldId id="740" r:id="rId17"/>
    <p:sldId id="742" r:id="rId18"/>
    <p:sldId id="743" r:id="rId19"/>
    <p:sldId id="746" r:id="rId20"/>
    <p:sldId id="745" r:id="rId21"/>
    <p:sldId id="744" r:id="rId22"/>
    <p:sldId id="74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B09783-5763-406C-99CF-86962214DE5B}" type="doc">
      <dgm:prSet loTypeId="urn:microsoft.com/office/officeart/2005/8/layout/lProcess1#1" loCatId="process" qsTypeId="urn:microsoft.com/office/officeart/2005/8/quickstyle/3d1#1" qsCatId="3D" csTypeId="urn:microsoft.com/office/officeart/2005/8/colors/colorful5#1" csCatId="colorful" phldr="1"/>
      <dgm:spPr/>
      <dgm:t>
        <a:bodyPr/>
        <a:lstStyle/>
        <a:p>
          <a:endParaRPr lang="zh-CN" altLang="en-US"/>
        </a:p>
      </dgm:t>
    </dgm:pt>
    <dgm:pt modelId="{4B43D911-753F-4D4C-B161-A7200F8482D3}">
      <dgm:prSet phldrT="[文本]"/>
      <dgm:spPr bwMode="white">
        <a:xfrm>
          <a:off x="253916" y="215"/>
          <a:ext cx="4629415" cy="609785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5B9BD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gm:spPr>
      <dgm:t>
        <a:bodyPr/>
        <a:lstStyle/>
        <a:p>
          <a:pPr>
            <a:buNone/>
          </a:pPr>
          <a:r>
            <a:rPr lang="zh-CN" altLang="en-US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活动认证</a:t>
          </a:r>
        </a:p>
      </dgm:t>
    </dgm:pt>
    <dgm:pt modelId="{0E75F74E-F912-48D3-BB45-E35BE9FB6E87}" type="parTrans" cxnId="{5493491D-F534-48A4-A5FE-50F02C491D9A}">
      <dgm:prSet/>
      <dgm:spPr/>
      <dgm:t>
        <a:bodyPr/>
        <a:lstStyle/>
        <a:p>
          <a:endParaRPr lang="zh-CN" altLang="en-US"/>
        </a:p>
      </dgm:t>
    </dgm:pt>
    <dgm:pt modelId="{7BB797AC-CECF-41B8-AE38-95C06CA1D230}" type="sibTrans" cxnId="{5493491D-F534-48A4-A5FE-50F02C491D9A}">
      <dgm:prSet/>
      <dgm:spPr/>
      <dgm:t>
        <a:bodyPr/>
        <a:lstStyle/>
        <a:p>
          <a:endParaRPr lang="zh-CN" altLang="en-US"/>
        </a:p>
      </dgm:t>
    </dgm:pt>
    <dgm:pt modelId="{8071BA88-AF76-4052-A7B7-09D089A6691E}">
      <dgm:prSet phldrT="[文本]" custT="1"/>
      <dgm:spPr bwMode="white">
        <a:xfrm>
          <a:off x="253916" y="823425"/>
          <a:ext cx="4629415" cy="609785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0"/>
            <a:satOff val="0"/>
            <a:lumOff val="0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gm:spPr>
      <dgm:t>
        <a:bodyPr/>
        <a:lstStyle/>
        <a:p>
          <a:pPr>
            <a:buNone/>
          </a:pPr>
          <a:r>
            <a:rPr lang="zh-CN" altLang="en-US" sz="1700" b="1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学院、职能部门、学生组织、社团等发布活动</a:t>
          </a:r>
        </a:p>
      </dgm:t>
    </dgm:pt>
    <dgm:pt modelId="{0BE73E53-41B4-4268-A828-343CA8C9AAD6}" type="parTrans" cxnId="{E109FD23-BA76-44D0-9B03-923FD33CF70F}">
      <dgm:prSet/>
      <dgm:spPr>
        <a:xfrm rot="5400000">
          <a:off x="2515268" y="663356"/>
          <a:ext cx="106712" cy="106712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gm:spPr>
      <dgm:t>
        <a:bodyPr/>
        <a:lstStyle/>
        <a:p>
          <a:endParaRPr lang="zh-CN" altLang="en-US"/>
        </a:p>
      </dgm:t>
    </dgm:pt>
    <dgm:pt modelId="{304F3FA6-2CE2-4DF0-9AAF-E1C294C84169}" type="sibTrans" cxnId="{E109FD23-BA76-44D0-9B03-923FD33CF70F}">
      <dgm:prSet/>
      <dgm:spPr>
        <a:xfrm rot="5400000">
          <a:off x="2515268" y="1486566"/>
          <a:ext cx="106712" cy="106712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750949"/>
                <a:satOff val="-1935"/>
                <a:lumOff val="-1307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750949"/>
                <a:satOff val="-1935"/>
                <a:lumOff val="-1307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750949"/>
                <a:satOff val="-1935"/>
                <a:lumOff val="-1307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gm:spPr>
      <dgm:t>
        <a:bodyPr/>
        <a:lstStyle/>
        <a:p>
          <a:endParaRPr lang="zh-CN" altLang="en-US"/>
        </a:p>
      </dgm:t>
    </dgm:pt>
    <dgm:pt modelId="{2ED09BCE-2FBC-490A-BAA7-0617907D4AAD}">
      <dgm:prSet phldrT="[文本]" custT="1"/>
      <dgm:spPr bwMode="white">
        <a:xfrm>
          <a:off x="253916" y="1646635"/>
          <a:ext cx="4629415" cy="609785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748862"/>
            <a:satOff val="-2537"/>
            <a:lumOff val="-325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748862"/>
              <a:satOff val="-2537"/>
              <a:lumOff val="-325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gm:spPr>
      <dgm:t>
        <a:bodyPr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活动发起初审人</a:t>
          </a:r>
          <a:r>
            <a:rPr lang="en-US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(</a:t>
          </a: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学院、职能部门、学生组织、社团的活动管理员</a:t>
          </a:r>
          <a:r>
            <a:rPr lang="en-US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)</a:t>
          </a: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进行活动初审</a:t>
          </a:r>
        </a:p>
      </dgm:t>
    </dgm:pt>
    <dgm:pt modelId="{ADCFECFF-0A5E-4C4F-A6D7-A0DDA4F02D4F}" type="parTrans" cxnId="{BD78E734-CD58-4CE5-9AFF-BFD034E3F2BA}">
      <dgm:prSet/>
      <dgm:spPr/>
      <dgm:t>
        <a:bodyPr/>
        <a:lstStyle/>
        <a:p>
          <a:endParaRPr lang="zh-CN" altLang="en-US"/>
        </a:p>
      </dgm:t>
    </dgm:pt>
    <dgm:pt modelId="{AC5DFF43-CA4F-45B0-AFE3-8E47A35AD551}" type="sibTrans" cxnId="{BD78E734-CD58-4CE5-9AFF-BFD034E3F2BA}">
      <dgm:prSet/>
      <dgm:spPr>
        <a:xfrm rot="5400000">
          <a:off x="2515268" y="2309776"/>
          <a:ext cx="106712" cy="106712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1501898"/>
                <a:satOff val="-3871"/>
                <a:lumOff val="-2614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1501898"/>
                <a:satOff val="-3871"/>
                <a:lumOff val="-2614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1501898"/>
                <a:satOff val="-3871"/>
                <a:lumOff val="-2614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gm:spPr>
      <dgm:t>
        <a:bodyPr/>
        <a:lstStyle/>
        <a:p>
          <a:endParaRPr lang="zh-CN" altLang="en-US"/>
        </a:p>
      </dgm:t>
    </dgm:pt>
    <dgm:pt modelId="{61E07389-B3DA-47CF-88E0-2A96CE31E8D0}">
      <dgm:prSet custT="1"/>
      <dgm:spPr bwMode="white">
        <a:xfrm>
          <a:off x="253916" y="3433055"/>
          <a:ext cx="4629415" cy="609785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2246587"/>
            <a:satOff val="-7611"/>
            <a:lumOff val="-976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2246587"/>
              <a:satOff val="-7611"/>
              <a:lumOff val="-976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gm:spPr>
      <dgm:t>
        <a:bodyPr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活动发布，学生报名参加活动</a:t>
          </a:r>
        </a:p>
      </dgm:t>
    </dgm:pt>
    <dgm:pt modelId="{C82C278F-7EBB-4381-BA01-8BF904B145DC}" type="parTrans" cxnId="{5241B4C7-A8A3-4DF1-B4BF-CEB302E858DD}">
      <dgm:prSet/>
      <dgm:spPr/>
      <dgm:t>
        <a:bodyPr/>
        <a:lstStyle/>
        <a:p>
          <a:endParaRPr lang="zh-CN" altLang="en-US"/>
        </a:p>
      </dgm:t>
    </dgm:pt>
    <dgm:pt modelId="{73D9DA0B-DAC7-481E-A62D-D15DCE1E061B}" type="sibTrans" cxnId="{5241B4C7-A8A3-4DF1-B4BF-CEB302E858DD}">
      <dgm:prSet/>
      <dgm:spPr>
        <a:xfrm rot="5400000">
          <a:off x="2515268" y="4096197"/>
          <a:ext cx="106712" cy="106712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3003797"/>
                <a:satOff val="-7742"/>
                <a:lumOff val="-5229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3003797"/>
                <a:satOff val="-7742"/>
                <a:lumOff val="-5229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3003797"/>
                <a:satOff val="-7742"/>
                <a:lumOff val="-5229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gm:spPr>
      <dgm:t>
        <a:bodyPr/>
        <a:lstStyle/>
        <a:p>
          <a:endParaRPr lang="zh-CN" altLang="en-US"/>
        </a:p>
      </dgm:t>
    </dgm:pt>
    <dgm:pt modelId="{523C2A3B-52EF-4129-B6CA-59597AD66EB5}">
      <dgm:prSet custT="1"/>
      <dgm:spPr bwMode="white">
        <a:xfrm>
          <a:off x="253916" y="4256265"/>
          <a:ext cx="4629415" cy="609785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2995450"/>
            <a:satOff val="-10148"/>
            <a:lumOff val="-1301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2995450"/>
              <a:satOff val="-10148"/>
              <a:lumOff val="-1301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gm:spPr>
      <dgm:t>
        <a:bodyPr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活动完结，获得第二课堂学分</a:t>
          </a:r>
        </a:p>
      </dgm:t>
    </dgm:pt>
    <dgm:pt modelId="{362B1FD3-9D0A-41A9-801B-604EBA847D15}" type="parTrans" cxnId="{B5DE8609-620D-42E2-A6B8-39A3C8DD0C4E}">
      <dgm:prSet/>
      <dgm:spPr/>
      <dgm:t>
        <a:bodyPr/>
        <a:lstStyle/>
        <a:p>
          <a:endParaRPr lang="zh-CN" altLang="en-US"/>
        </a:p>
      </dgm:t>
    </dgm:pt>
    <dgm:pt modelId="{EEA53EA7-2A80-4E91-8416-DD7B47DE5F3E}" type="sibTrans" cxnId="{B5DE8609-620D-42E2-A6B8-39A3C8DD0C4E}">
      <dgm:prSet/>
      <dgm:spPr>
        <a:xfrm rot="1709469">
          <a:off x="2825892" y="4926187"/>
          <a:ext cx="331964" cy="106712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3754746"/>
                <a:satOff val="-9677"/>
                <a:lumOff val="-6536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3754746"/>
                <a:satOff val="-9677"/>
                <a:lumOff val="-6536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3754746"/>
                <a:satOff val="-9677"/>
                <a:lumOff val="-6536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gm:spPr>
      <dgm:t>
        <a:bodyPr/>
        <a:lstStyle/>
        <a:p>
          <a:endParaRPr lang="zh-CN" altLang="en-US"/>
        </a:p>
      </dgm:t>
    </dgm:pt>
    <dgm:pt modelId="{97E82E5A-4E49-4FE4-8F5D-D7E4602807B6}">
      <dgm:prSet custT="1"/>
      <dgm:spPr bwMode="white">
        <a:xfrm>
          <a:off x="1565393" y="5075309"/>
          <a:ext cx="5024556" cy="609785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3744313"/>
            <a:satOff val="-12684"/>
            <a:lumOff val="-1627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3744313"/>
              <a:satOff val="-12684"/>
              <a:lumOff val="-1627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gm:spPr>
      <dgm:t>
        <a:bodyPr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生成“第二课堂成绩单”，进入学生档案</a:t>
          </a:r>
        </a:p>
      </dgm:t>
    </dgm:pt>
    <dgm:pt modelId="{9053901F-68BB-4BDE-9571-35D5CDF21881}" type="sibTrans" cxnId="{C9F6EAE0-3137-4CEB-A684-6928D3C715A3}">
      <dgm:prSet/>
      <dgm:spPr/>
      <dgm:t>
        <a:bodyPr/>
        <a:lstStyle/>
        <a:p>
          <a:endParaRPr lang="zh-CN" altLang="en-US"/>
        </a:p>
      </dgm:t>
    </dgm:pt>
    <dgm:pt modelId="{76D1E864-777E-4077-91B7-55C62C06221B}" type="parTrans" cxnId="{C9F6EAE0-3137-4CEB-A684-6928D3C715A3}">
      <dgm:prSet/>
      <dgm:spPr/>
      <dgm:t>
        <a:bodyPr/>
        <a:lstStyle/>
        <a:p>
          <a:endParaRPr lang="zh-CN" altLang="en-US"/>
        </a:p>
      </dgm:t>
    </dgm:pt>
    <dgm:pt modelId="{ED53F783-3F85-4DE5-B812-327371940D90}">
      <dgm:prSet phldrT="[文本]" custT="1"/>
      <dgm:spPr bwMode="white">
        <a:xfrm>
          <a:off x="225427" y="2469845"/>
          <a:ext cx="4686393" cy="749785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1497725"/>
            <a:satOff val="-5074"/>
            <a:lumOff val="-651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1497725"/>
              <a:satOff val="-5074"/>
              <a:lumOff val="-651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gm:spPr>
      <dgm:t>
        <a:bodyPr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活动发起终审人</a:t>
          </a:r>
          <a:r>
            <a:rPr lang="en-US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(</a:t>
          </a: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校团委第二课堂运营中心学干或部长</a:t>
          </a:r>
          <a:r>
            <a:rPr lang="en-US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)</a:t>
          </a: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进行活动终审</a:t>
          </a:r>
        </a:p>
      </dgm:t>
    </dgm:pt>
    <dgm:pt modelId="{FD9B84D2-8485-4B91-8432-D2C031F76F88}" type="parTrans" cxnId="{E3AEC15C-A3BC-40F3-9222-245025F081F4}">
      <dgm:prSet/>
      <dgm:spPr/>
      <dgm:t>
        <a:bodyPr/>
        <a:lstStyle/>
        <a:p>
          <a:endParaRPr lang="zh-CN" altLang="en-US"/>
        </a:p>
      </dgm:t>
    </dgm:pt>
    <dgm:pt modelId="{2D639D10-F42B-440C-9A6B-9187738669AF}" type="sibTrans" cxnId="{E3AEC15C-A3BC-40F3-9222-245025F081F4}">
      <dgm:prSet/>
      <dgm:spPr>
        <a:xfrm rot="5400000">
          <a:off x="2515268" y="3272987"/>
          <a:ext cx="106712" cy="106712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gm:spPr>
      <dgm:t>
        <a:bodyPr/>
        <a:lstStyle/>
        <a:p>
          <a:endParaRPr lang="zh-CN" altLang="en-US"/>
        </a:p>
      </dgm:t>
    </dgm:pt>
    <dgm:pt modelId="{E254992E-D150-4376-936C-045752D311F7}">
      <dgm:prSet custT="1"/>
      <dgm:spPr bwMode="white">
        <a:xfrm>
          <a:off x="253916" y="3433055"/>
          <a:ext cx="4629415" cy="609785"/>
        </a:xfrm>
        <a:solidFill>
          <a:srgbClr val="5B9BD5">
            <a:tint val="40000"/>
            <a:alpha val="90000"/>
            <a:hueOff val="-2246587"/>
            <a:satOff val="-7611"/>
            <a:lumOff val="-976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2246587"/>
              <a:satOff val="-7611"/>
              <a:lumOff val="-976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gm:spPr>
      <dgm:t>
        <a:bodyPr/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活动结束后活动发起人申请活动完结，活动完结审核人（校团委第二课堂运营中心学干或部长）进行活动完结审核</a:t>
          </a:r>
        </a:p>
      </dgm:t>
    </dgm:pt>
    <dgm:pt modelId="{EF725F95-9F1A-4565-9422-41923CEF302B}" type="parTrans" cxnId="{9DC12794-2958-4C38-B34C-4DFF0D356742}">
      <dgm:prSet/>
      <dgm:spPr/>
      <dgm:t>
        <a:bodyPr/>
        <a:lstStyle/>
        <a:p>
          <a:endParaRPr lang="zh-CN" altLang="en-US"/>
        </a:p>
      </dgm:t>
    </dgm:pt>
    <dgm:pt modelId="{F53A8871-D71B-4D85-BB68-84C50BDB7B27}" type="sibTrans" cxnId="{9DC12794-2958-4C38-B34C-4DFF0D356742}">
      <dgm:prSet/>
      <dgm:spPr/>
      <dgm:t>
        <a:bodyPr/>
        <a:lstStyle/>
        <a:p>
          <a:endParaRPr lang="zh-CN" altLang="en-US"/>
        </a:p>
      </dgm:t>
    </dgm:pt>
    <dgm:pt modelId="{9C4FCEFF-A176-4D93-88BF-60BE9D0F6DBF}" type="pres">
      <dgm:prSet presAssocID="{C6B09783-5763-406C-99CF-86962214DE5B}" presName="Name0" presStyleCnt="0">
        <dgm:presLayoutVars>
          <dgm:dir/>
          <dgm:animLvl val="lvl"/>
          <dgm:resizeHandles val="exact"/>
        </dgm:presLayoutVars>
      </dgm:prSet>
      <dgm:spPr/>
    </dgm:pt>
    <dgm:pt modelId="{E53198D6-7066-4D93-97ED-51F60C96E44D}" type="pres">
      <dgm:prSet presAssocID="{4B43D911-753F-4D4C-B161-A7200F8482D3}" presName="vertFlow" presStyleCnt="0"/>
      <dgm:spPr/>
    </dgm:pt>
    <dgm:pt modelId="{A585B5AE-98A0-47EA-8812-845A6D2134F8}" type="pres">
      <dgm:prSet presAssocID="{4B43D911-753F-4D4C-B161-A7200F8482D3}" presName="header" presStyleLbl="node1" presStyleIdx="0" presStyleCnt="1" custScaleX="189797"/>
      <dgm:spPr/>
    </dgm:pt>
    <dgm:pt modelId="{7B659092-1EB8-4017-AAE8-681D3B1A9B3E}" type="pres">
      <dgm:prSet presAssocID="{0BE73E53-41B4-4268-A828-343CA8C9AAD6}" presName="parTrans" presStyleLbl="sibTrans2D1" presStyleIdx="0" presStyleCnt="7"/>
      <dgm:spPr/>
    </dgm:pt>
    <dgm:pt modelId="{13C071E4-A39B-449B-A5AB-42D714853E15}" type="pres">
      <dgm:prSet presAssocID="{8071BA88-AF76-4052-A7B7-09D089A6691E}" presName="child" presStyleLbl="alignAccFollowNode1" presStyleIdx="0" presStyleCnt="7" custScaleX="261283">
        <dgm:presLayoutVars>
          <dgm:chMax val="0"/>
          <dgm:bulletEnabled val="1"/>
        </dgm:presLayoutVars>
      </dgm:prSet>
      <dgm:spPr/>
    </dgm:pt>
    <dgm:pt modelId="{A20F8E37-A4C8-475F-902F-B47FE7B1C8FF}" type="pres">
      <dgm:prSet presAssocID="{304F3FA6-2CE2-4DF0-9AAF-E1C294C84169}" presName="sibTrans" presStyleLbl="sibTrans2D1" presStyleIdx="1" presStyleCnt="7"/>
      <dgm:spPr/>
    </dgm:pt>
    <dgm:pt modelId="{ABC37780-1769-44AF-9375-5580A2FCEE38}" type="pres">
      <dgm:prSet presAssocID="{2ED09BCE-2FBC-490A-BAA7-0617907D4AAD}" presName="child" presStyleLbl="alignAccFollowNode1" presStyleIdx="1" presStyleCnt="7" custScaleX="254133" custScaleY="146152">
        <dgm:presLayoutVars>
          <dgm:chMax val="0"/>
          <dgm:bulletEnabled val="1"/>
        </dgm:presLayoutVars>
      </dgm:prSet>
      <dgm:spPr/>
    </dgm:pt>
    <dgm:pt modelId="{2988BB08-28DD-4FA3-A2B8-406292041B54}" type="pres">
      <dgm:prSet presAssocID="{AC5DFF43-CA4F-45B0-AFE3-8E47A35AD551}" presName="sibTrans" presStyleLbl="sibTrans2D1" presStyleIdx="2" presStyleCnt="7"/>
      <dgm:spPr/>
    </dgm:pt>
    <dgm:pt modelId="{04889DFA-9892-44DA-8F68-66250E7F8EA0}" type="pres">
      <dgm:prSet presAssocID="{ED53F783-3F85-4DE5-B812-327371940D90}" presName="child" presStyleLbl="alignAccFollowNode1" presStyleIdx="2" presStyleCnt="7" custScaleX="192133" custScaleY="140066">
        <dgm:presLayoutVars>
          <dgm:chMax val="0"/>
          <dgm:bulletEnabled val="1"/>
        </dgm:presLayoutVars>
      </dgm:prSet>
      <dgm:spPr/>
    </dgm:pt>
    <dgm:pt modelId="{45B540D2-0F9B-4413-821C-A03A54531EBD}" type="pres">
      <dgm:prSet presAssocID="{2D639D10-F42B-440C-9A6B-9187738669AF}" presName="sibTrans" presStyleLbl="sibTrans2D1" presStyleIdx="3" presStyleCnt="7"/>
      <dgm:spPr/>
    </dgm:pt>
    <dgm:pt modelId="{46D9F1EE-75A5-4EB4-9BF8-8F289F20E610}" type="pres">
      <dgm:prSet presAssocID="{61E07389-B3DA-47CF-88E0-2A96CE31E8D0}" presName="child" presStyleLbl="alignAccFollowNode1" presStyleIdx="3" presStyleCnt="7" custScaleX="189797">
        <dgm:presLayoutVars>
          <dgm:chMax val="0"/>
          <dgm:bulletEnabled val="1"/>
        </dgm:presLayoutVars>
      </dgm:prSet>
      <dgm:spPr/>
    </dgm:pt>
    <dgm:pt modelId="{2BEE60B3-CBAD-4F6C-96A2-61C17BF79306}" type="pres">
      <dgm:prSet presAssocID="{73D9DA0B-DAC7-481E-A62D-D15DCE1E061B}" presName="sibTrans" presStyleLbl="sibTrans2D1" presStyleIdx="4" presStyleCnt="7"/>
      <dgm:spPr/>
    </dgm:pt>
    <dgm:pt modelId="{10A4FCF5-7078-4C3F-8707-3280928BB52D}" type="pres">
      <dgm:prSet presAssocID="{E254992E-D150-4376-936C-045752D311F7}" presName="child" presStyleLbl="alignAccFollowNode1" presStyleIdx="4" presStyleCnt="7" custScaleX="236043" custScaleY="224241">
        <dgm:presLayoutVars>
          <dgm:chMax val="0"/>
          <dgm:bulletEnabled val="1"/>
        </dgm:presLayoutVars>
      </dgm:prSet>
      <dgm:spPr>
        <a:prstGeom prst="roundRect">
          <a:avLst>
            <a:gd name="adj" fmla="val 10000"/>
          </a:avLst>
        </a:prstGeom>
      </dgm:spPr>
    </dgm:pt>
    <dgm:pt modelId="{2930223A-B31D-42B8-ABE6-C5FAD607A7FC}" type="pres">
      <dgm:prSet presAssocID="{F53A8871-D71B-4D85-BB68-84C50BDB7B27}" presName="sibTrans" presStyleLbl="sibTrans2D1" presStyleIdx="5" presStyleCnt="7"/>
      <dgm:spPr/>
    </dgm:pt>
    <dgm:pt modelId="{4708297F-73B7-45F3-A298-2FF020DDA0FD}" type="pres">
      <dgm:prSet presAssocID="{523C2A3B-52EF-4129-B6CA-59597AD66EB5}" presName="child" presStyleLbl="alignAccFollowNode1" presStyleIdx="5" presStyleCnt="7" custScaleX="189797">
        <dgm:presLayoutVars>
          <dgm:chMax val="0"/>
          <dgm:bulletEnabled val="1"/>
        </dgm:presLayoutVars>
      </dgm:prSet>
      <dgm:spPr/>
    </dgm:pt>
    <dgm:pt modelId="{61B0C100-F017-4760-8329-0EC1749EBBC6}" type="pres">
      <dgm:prSet presAssocID="{EEA53EA7-2A80-4E91-8416-DD7B47DE5F3E}" presName="sibTrans" presStyleLbl="sibTrans2D1" presStyleIdx="6" presStyleCnt="7" custLinFactNeighborX="45344" custLinFactNeighborY="8305"/>
      <dgm:spPr/>
    </dgm:pt>
    <dgm:pt modelId="{0F319292-B00F-4AFB-AD3A-3247709BC975}" type="pres">
      <dgm:prSet presAssocID="{97E82E5A-4E49-4FE4-8F5D-D7E4602807B6}" presName="child" presStyleLbl="alignAccFollowNode1" presStyleIdx="6" presStyleCnt="7" custScaleX="241356" custLinFactNeighborX="0" custLinFactNeighborY="-12141">
        <dgm:presLayoutVars>
          <dgm:chMax val="0"/>
          <dgm:bulletEnabled val="1"/>
        </dgm:presLayoutVars>
      </dgm:prSet>
      <dgm:spPr/>
    </dgm:pt>
  </dgm:ptLst>
  <dgm:cxnLst>
    <dgm:cxn modelId="{A569C005-B7B4-4A36-ABC8-79833808C93E}" type="presOf" srcId="{0BE73E53-41B4-4268-A828-343CA8C9AAD6}" destId="{7B659092-1EB8-4017-AAE8-681D3B1A9B3E}" srcOrd="0" destOrd="0" presId="urn:microsoft.com/office/officeart/2005/8/layout/lProcess1#1"/>
    <dgm:cxn modelId="{B5DE8609-620D-42E2-A6B8-39A3C8DD0C4E}" srcId="{4B43D911-753F-4D4C-B161-A7200F8482D3}" destId="{523C2A3B-52EF-4129-B6CA-59597AD66EB5}" srcOrd="5" destOrd="0" parTransId="{362B1FD3-9D0A-41A9-801B-604EBA847D15}" sibTransId="{EEA53EA7-2A80-4E91-8416-DD7B47DE5F3E}"/>
    <dgm:cxn modelId="{2987DB0C-7517-4411-A86D-67121421334A}" type="presOf" srcId="{523C2A3B-52EF-4129-B6CA-59597AD66EB5}" destId="{4708297F-73B7-45F3-A298-2FF020DDA0FD}" srcOrd="0" destOrd="0" presId="urn:microsoft.com/office/officeart/2005/8/layout/lProcess1#1"/>
    <dgm:cxn modelId="{98334712-AEC7-4E6C-837C-E67168DFC26A}" type="presOf" srcId="{E254992E-D150-4376-936C-045752D311F7}" destId="{10A4FCF5-7078-4C3F-8707-3280928BB52D}" srcOrd="0" destOrd="0" presId="urn:microsoft.com/office/officeart/2005/8/layout/lProcess1#1"/>
    <dgm:cxn modelId="{BD8CA917-DADC-4DAE-A647-535F1774D88E}" type="presOf" srcId="{4B43D911-753F-4D4C-B161-A7200F8482D3}" destId="{A585B5AE-98A0-47EA-8812-845A6D2134F8}" srcOrd="0" destOrd="0" presId="urn:microsoft.com/office/officeart/2005/8/layout/lProcess1#1"/>
    <dgm:cxn modelId="{4AA90F1B-25F6-4DB0-8BB1-9CCFAAE8F28D}" type="presOf" srcId="{ED53F783-3F85-4DE5-B812-327371940D90}" destId="{04889DFA-9892-44DA-8F68-66250E7F8EA0}" srcOrd="0" destOrd="0" presId="urn:microsoft.com/office/officeart/2005/8/layout/lProcess1#1"/>
    <dgm:cxn modelId="{5493491D-F534-48A4-A5FE-50F02C491D9A}" srcId="{C6B09783-5763-406C-99CF-86962214DE5B}" destId="{4B43D911-753F-4D4C-B161-A7200F8482D3}" srcOrd="0" destOrd="0" parTransId="{0E75F74E-F912-48D3-BB45-E35BE9FB6E87}" sibTransId="{7BB797AC-CECF-41B8-AE38-95C06CA1D230}"/>
    <dgm:cxn modelId="{E109FD23-BA76-44D0-9B03-923FD33CF70F}" srcId="{4B43D911-753F-4D4C-B161-A7200F8482D3}" destId="{8071BA88-AF76-4052-A7B7-09D089A6691E}" srcOrd="0" destOrd="0" parTransId="{0BE73E53-41B4-4268-A828-343CA8C9AAD6}" sibTransId="{304F3FA6-2CE2-4DF0-9AAF-E1C294C84169}"/>
    <dgm:cxn modelId="{E9712D30-D635-44EC-B46B-03BC023C6A4D}" type="presOf" srcId="{61E07389-B3DA-47CF-88E0-2A96CE31E8D0}" destId="{46D9F1EE-75A5-4EB4-9BF8-8F289F20E610}" srcOrd="0" destOrd="0" presId="urn:microsoft.com/office/officeart/2005/8/layout/lProcess1#1"/>
    <dgm:cxn modelId="{BD78E734-CD58-4CE5-9AFF-BFD034E3F2BA}" srcId="{4B43D911-753F-4D4C-B161-A7200F8482D3}" destId="{2ED09BCE-2FBC-490A-BAA7-0617907D4AAD}" srcOrd="1" destOrd="0" parTransId="{ADCFECFF-0A5E-4C4F-A6D7-A0DDA4F02D4F}" sibTransId="{AC5DFF43-CA4F-45B0-AFE3-8E47A35AD551}"/>
    <dgm:cxn modelId="{6DC20337-889E-47A4-8A57-50C5AC0372F6}" type="presOf" srcId="{97E82E5A-4E49-4FE4-8F5D-D7E4602807B6}" destId="{0F319292-B00F-4AFB-AD3A-3247709BC975}" srcOrd="0" destOrd="0" presId="urn:microsoft.com/office/officeart/2005/8/layout/lProcess1#1"/>
    <dgm:cxn modelId="{E3AEC15C-A3BC-40F3-9222-245025F081F4}" srcId="{4B43D911-753F-4D4C-B161-A7200F8482D3}" destId="{ED53F783-3F85-4DE5-B812-327371940D90}" srcOrd="2" destOrd="0" parTransId="{FD9B84D2-8485-4B91-8432-D2C031F76F88}" sibTransId="{2D639D10-F42B-440C-9A6B-9187738669AF}"/>
    <dgm:cxn modelId="{5BC06760-7522-4581-A81D-9509D8FFD48E}" type="presOf" srcId="{AC5DFF43-CA4F-45B0-AFE3-8E47A35AD551}" destId="{2988BB08-28DD-4FA3-A2B8-406292041B54}" srcOrd="0" destOrd="0" presId="urn:microsoft.com/office/officeart/2005/8/layout/lProcess1#1"/>
    <dgm:cxn modelId="{E17C9967-ECE4-45C4-8808-2B29E6E30180}" type="presOf" srcId="{EEA53EA7-2A80-4E91-8416-DD7B47DE5F3E}" destId="{61B0C100-F017-4760-8329-0EC1749EBBC6}" srcOrd="0" destOrd="0" presId="urn:microsoft.com/office/officeart/2005/8/layout/lProcess1#1"/>
    <dgm:cxn modelId="{9DC12794-2958-4C38-B34C-4DFF0D356742}" srcId="{4B43D911-753F-4D4C-B161-A7200F8482D3}" destId="{E254992E-D150-4376-936C-045752D311F7}" srcOrd="4" destOrd="0" parTransId="{EF725F95-9F1A-4565-9422-41923CEF302B}" sibTransId="{F53A8871-D71B-4D85-BB68-84C50BDB7B27}"/>
    <dgm:cxn modelId="{2DB8F299-E305-4CBD-B726-46F7F18E82E3}" type="presOf" srcId="{73D9DA0B-DAC7-481E-A62D-D15DCE1E061B}" destId="{2BEE60B3-CBAD-4F6C-96A2-61C17BF79306}" srcOrd="0" destOrd="0" presId="urn:microsoft.com/office/officeart/2005/8/layout/lProcess1#1"/>
    <dgm:cxn modelId="{14B9CDB9-7F5F-4738-9679-1844C8085B0F}" type="presOf" srcId="{F53A8871-D71B-4D85-BB68-84C50BDB7B27}" destId="{2930223A-B31D-42B8-ABE6-C5FAD607A7FC}" srcOrd="0" destOrd="0" presId="urn:microsoft.com/office/officeart/2005/8/layout/lProcess1#1"/>
    <dgm:cxn modelId="{0D1707BB-BEE0-4DCC-9FDF-A3E117026BCE}" type="presOf" srcId="{2ED09BCE-2FBC-490A-BAA7-0617907D4AAD}" destId="{ABC37780-1769-44AF-9375-5580A2FCEE38}" srcOrd="0" destOrd="0" presId="urn:microsoft.com/office/officeart/2005/8/layout/lProcess1#1"/>
    <dgm:cxn modelId="{D9B9C3BE-DC61-47BF-A053-312F559C5C42}" type="presOf" srcId="{2D639D10-F42B-440C-9A6B-9187738669AF}" destId="{45B540D2-0F9B-4413-821C-A03A54531EBD}" srcOrd="0" destOrd="0" presId="urn:microsoft.com/office/officeart/2005/8/layout/lProcess1#1"/>
    <dgm:cxn modelId="{772C8EC3-1760-4DF8-B0CE-74C460107E7C}" type="presOf" srcId="{8071BA88-AF76-4052-A7B7-09D089A6691E}" destId="{13C071E4-A39B-449B-A5AB-42D714853E15}" srcOrd="0" destOrd="0" presId="urn:microsoft.com/office/officeart/2005/8/layout/lProcess1#1"/>
    <dgm:cxn modelId="{5241B4C7-A8A3-4DF1-B4BF-CEB302E858DD}" srcId="{4B43D911-753F-4D4C-B161-A7200F8482D3}" destId="{61E07389-B3DA-47CF-88E0-2A96CE31E8D0}" srcOrd="3" destOrd="0" parTransId="{C82C278F-7EBB-4381-BA01-8BF904B145DC}" sibTransId="{73D9DA0B-DAC7-481E-A62D-D15DCE1E061B}"/>
    <dgm:cxn modelId="{352C16CE-B949-4599-895B-1111D2F45F0E}" type="presOf" srcId="{304F3FA6-2CE2-4DF0-9AAF-E1C294C84169}" destId="{A20F8E37-A4C8-475F-902F-B47FE7B1C8FF}" srcOrd="0" destOrd="0" presId="urn:microsoft.com/office/officeart/2005/8/layout/lProcess1#1"/>
    <dgm:cxn modelId="{5CF1C1DE-C036-46D6-B54C-E4B80EDB9E1F}" type="presOf" srcId="{C6B09783-5763-406C-99CF-86962214DE5B}" destId="{9C4FCEFF-A176-4D93-88BF-60BE9D0F6DBF}" srcOrd="0" destOrd="0" presId="urn:microsoft.com/office/officeart/2005/8/layout/lProcess1#1"/>
    <dgm:cxn modelId="{C9F6EAE0-3137-4CEB-A684-6928D3C715A3}" srcId="{4B43D911-753F-4D4C-B161-A7200F8482D3}" destId="{97E82E5A-4E49-4FE4-8F5D-D7E4602807B6}" srcOrd="6" destOrd="0" parTransId="{76D1E864-777E-4077-91B7-55C62C06221B}" sibTransId="{9053901F-68BB-4BDE-9571-35D5CDF21881}"/>
    <dgm:cxn modelId="{72DCF52F-B2CA-42B7-A944-7D1962EA596C}" type="presParOf" srcId="{9C4FCEFF-A176-4D93-88BF-60BE9D0F6DBF}" destId="{E53198D6-7066-4D93-97ED-51F60C96E44D}" srcOrd="0" destOrd="0" presId="urn:microsoft.com/office/officeart/2005/8/layout/lProcess1#1"/>
    <dgm:cxn modelId="{9C991413-7007-4172-B3CE-3A37340AC821}" type="presParOf" srcId="{E53198D6-7066-4D93-97ED-51F60C96E44D}" destId="{A585B5AE-98A0-47EA-8812-845A6D2134F8}" srcOrd="0" destOrd="0" presId="urn:microsoft.com/office/officeart/2005/8/layout/lProcess1#1"/>
    <dgm:cxn modelId="{3D9E14B9-636B-4A20-BB3B-8529190DC9CF}" type="presParOf" srcId="{E53198D6-7066-4D93-97ED-51F60C96E44D}" destId="{7B659092-1EB8-4017-AAE8-681D3B1A9B3E}" srcOrd="1" destOrd="0" presId="urn:microsoft.com/office/officeart/2005/8/layout/lProcess1#1"/>
    <dgm:cxn modelId="{8F85BA99-795A-4181-B8BF-DCD80B36CF8B}" type="presParOf" srcId="{E53198D6-7066-4D93-97ED-51F60C96E44D}" destId="{13C071E4-A39B-449B-A5AB-42D714853E15}" srcOrd="2" destOrd="0" presId="urn:microsoft.com/office/officeart/2005/8/layout/lProcess1#1"/>
    <dgm:cxn modelId="{61410662-153F-48CD-BDE7-D8F18173E02E}" type="presParOf" srcId="{E53198D6-7066-4D93-97ED-51F60C96E44D}" destId="{A20F8E37-A4C8-475F-902F-B47FE7B1C8FF}" srcOrd="3" destOrd="0" presId="urn:microsoft.com/office/officeart/2005/8/layout/lProcess1#1"/>
    <dgm:cxn modelId="{4F85CE4B-CEA7-4907-801B-0344B44F3A9E}" type="presParOf" srcId="{E53198D6-7066-4D93-97ED-51F60C96E44D}" destId="{ABC37780-1769-44AF-9375-5580A2FCEE38}" srcOrd="4" destOrd="0" presId="urn:microsoft.com/office/officeart/2005/8/layout/lProcess1#1"/>
    <dgm:cxn modelId="{84B56865-797E-4E9B-BADA-CBF7C9B86FA2}" type="presParOf" srcId="{E53198D6-7066-4D93-97ED-51F60C96E44D}" destId="{2988BB08-28DD-4FA3-A2B8-406292041B54}" srcOrd="5" destOrd="0" presId="urn:microsoft.com/office/officeart/2005/8/layout/lProcess1#1"/>
    <dgm:cxn modelId="{E67FF7E2-CDA4-42F4-8F7E-F2F1957659AA}" type="presParOf" srcId="{E53198D6-7066-4D93-97ED-51F60C96E44D}" destId="{04889DFA-9892-44DA-8F68-66250E7F8EA0}" srcOrd="6" destOrd="0" presId="urn:microsoft.com/office/officeart/2005/8/layout/lProcess1#1"/>
    <dgm:cxn modelId="{8E4BAD08-ACC1-4FD7-A499-0768319575F1}" type="presParOf" srcId="{E53198D6-7066-4D93-97ED-51F60C96E44D}" destId="{45B540D2-0F9B-4413-821C-A03A54531EBD}" srcOrd="7" destOrd="0" presId="urn:microsoft.com/office/officeart/2005/8/layout/lProcess1#1"/>
    <dgm:cxn modelId="{977AB2C4-96E2-4139-A5C9-2F67EE27A62A}" type="presParOf" srcId="{E53198D6-7066-4D93-97ED-51F60C96E44D}" destId="{46D9F1EE-75A5-4EB4-9BF8-8F289F20E610}" srcOrd="8" destOrd="0" presId="urn:microsoft.com/office/officeart/2005/8/layout/lProcess1#1"/>
    <dgm:cxn modelId="{8FB2D90F-12A2-458F-B5A6-CD06813BEAB6}" type="presParOf" srcId="{E53198D6-7066-4D93-97ED-51F60C96E44D}" destId="{2BEE60B3-CBAD-4F6C-96A2-61C17BF79306}" srcOrd="9" destOrd="0" presId="urn:microsoft.com/office/officeart/2005/8/layout/lProcess1#1"/>
    <dgm:cxn modelId="{51B47002-A078-4585-BBD1-4AA80467322D}" type="presParOf" srcId="{E53198D6-7066-4D93-97ED-51F60C96E44D}" destId="{10A4FCF5-7078-4C3F-8707-3280928BB52D}" srcOrd="10" destOrd="0" presId="urn:microsoft.com/office/officeart/2005/8/layout/lProcess1#1"/>
    <dgm:cxn modelId="{CD37C288-C3B9-46B0-A290-700020D13AE1}" type="presParOf" srcId="{E53198D6-7066-4D93-97ED-51F60C96E44D}" destId="{2930223A-B31D-42B8-ABE6-C5FAD607A7FC}" srcOrd="11" destOrd="0" presId="urn:microsoft.com/office/officeart/2005/8/layout/lProcess1#1"/>
    <dgm:cxn modelId="{FAD002C1-620F-4DF4-9B12-93FB87F5E10E}" type="presParOf" srcId="{E53198D6-7066-4D93-97ED-51F60C96E44D}" destId="{4708297F-73B7-45F3-A298-2FF020DDA0FD}" srcOrd="12" destOrd="0" presId="urn:microsoft.com/office/officeart/2005/8/layout/lProcess1#1"/>
    <dgm:cxn modelId="{30AF1E41-318D-40F3-ADC7-3590FDB9B81F}" type="presParOf" srcId="{E53198D6-7066-4D93-97ED-51F60C96E44D}" destId="{61B0C100-F017-4760-8329-0EC1749EBBC6}" srcOrd="13" destOrd="0" presId="urn:microsoft.com/office/officeart/2005/8/layout/lProcess1#1"/>
    <dgm:cxn modelId="{E4186CE6-968B-4478-971F-194F55BB5644}" type="presParOf" srcId="{E53198D6-7066-4D93-97ED-51F60C96E44D}" destId="{0F319292-B00F-4AFB-AD3A-3247709BC975}" srcOrd="14" destOrd="0" presId="urn:microsoft.com/office/officeart/2005/8/layout/lProcess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85B5AE-98A0-47EA-8812-845A6D2134F8}">
      <dsp:nvSpPr>
        <dsp:cNvPr id="0" name=""/>
        <dsp:cNvSpPr/>
      </dsp:nvSpPr>
      <dsp:spPr bwMode="white">
        <a:xfrm>
          <a:off x="2335184" y="2224"/>
          <a:ext cx="3437789" cy="45282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5B9BD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活动认证</a:t>
          </a:r>
        </a:p>
      </dsp:txBody>
      <dsp:txXfrm>
        <a:off x="2348447" y="15487"/>
        <a:ext cx="3411263" cy="426298"/>
      </dsp:txXfrm>
    </dsp:sp>
    <dsp:sp modelId="{7B659092-1EB8-4017-AAE8-681D3B1A9B3E}">
      <dsp:nvSpPr>
        <dsp:cNvPr id="0" name=""/>
        <dsp:cNvSpPr/>
      </dsp:nvSpPr>
      <dsp:spPr>
        <a:xfrm rot="5400000">
          <a:off x="4014456" y="494671"/>
          <a:ext cx="79244" cy="7924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C071E4-A39B-449B-A5AB-42D714853E15}">
      <dsp:nvSpPr>
        <dsp:cNvPr id="0" name=""/>
        <dsp:cNvSpPr/>
      </dsp:nvSpPr>
      <dsp:spPr bwMode="white">
        <a:xfrm>
          <a:off x="1687772" y="613538"/>
          <a:ext cx="4732613" cy="452824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0"/>
            <a:satOff val="0"/>
            <a:lumOff val="0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学院、职能部门、学生组织、社团等发布活动</a:t>
          </a:r>
        </a:p>
      </dsp:txBody>
      <dsp:txXfrm>
        <a:off x="1701035" y="626801"/>
        <a:ext cx="4706087" cy="426298"/>
      </dsp:txXfrm>
    </dsp:sp>
    <dsp:sp modelId="{A20F8E37-A4C8-475F-902F-B47FE7B1C8FF}">
      <dsp:nvSpPr>
        <dsp:cNvPr id="0" name=""/>
        <dsp:cNvSpPr/>
      </dsp:nvSpPr>
      <dsp:spPr>
        <a:xfrm rot="5400000">
          <a:off x="4014456" y="1105984"/>
          <a:ext cx="79244" cy="7924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750949"/>
                <a:satOff val="-1935"/>
                <a:lumOff val="-1307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750949"/>
                <a:satOff val="-1935"/>
                <a:lumOff val="-1307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750949"/>
                <a:satOff val="-1935"/>
                <a:lumOff val="-1307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C37780-1769-44AF-9375-5580A2FCEE38}">
      <dsp:nvSpPr>
        <dsp:cNvPr id="0" name=""/>
        <dsp:cNvSpPr/>
      </dsp:nvSpPr>
      <dsp:spPr bwMode="white">
        <a:xfrm>
          <a:off x="1752525" y="1224851"/>
          <a:ext cx="4603106" cy="661812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748862"/>
            <a:satOff val="-2537"/>
            <a:lumOff val="-325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748862"/>
              <a:satOff val="-2537"/>
              <a:lumOff val="-325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活动发起初审人</a:t>
          </a:r>
          <a:r>
            <a:rPr lang="en-US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(</a:t>
          </a: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学院、职能部门、学生组织、社团的活动管理员</a:t>
          </a:r>
          <a:r>
            <a:rPr lang="en-US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)</a:t>
          </a: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进行活动初审</a:t>
          </a:r>
        </a:p>
      </dsp:txBody>
      <dsp:txXfrm>
        <a:off x="1771909" y="1244235"/>
        <a:ext cx="4564338" cy="623044"/>
      </dsp:txXfrm>
    </dsp:sp>
    <dsp:sp modelId="{2988BB08-28DD-4FA3-A2B8-406292041B54}">
      <dsp:nvSpPr>
        <dsp:cNvPr id="0" name=""/>
        <dsp:cNvSpPr/>
      </dsp:nvSpPr>
      <dsp:spPr>
        <a:xfrm rot="5400000">
          <a:off x="4014456" y="1926285"/>
          <a:ext cx="79244" cy="7924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1501898"/>
                <a:satOff val="-3871"/>
                <a:lumOff val="-2614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1501898"/>
                <a:satOff val="-3871"/>
                <a:lumOff val="-2614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1501898"/>
                <a:satOff val="-3871"/>
                <a:lumOff val="-2614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889DFA-9892-44DA-8F68-66250E7F8EA0}">
      <dsp:nvSpPr>
        <dsp:cNvPr id="0" name=""/>
        <dsp:cNvSpPr/>
      </dsp:nvSpPr>
      <dsp:spPr bwMode="white">
        <a:xfrm>
          <a:off x="2314028" y="2045151"/>
          <a:ext cx="3480101" cy="634253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1497725"/>
            <a:satOff val="-5074"/>
            <a:lumOff val="-651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1497725"/>
              <a:satOff val="-5074"/>
              <a:lumOff val="-651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活动发起终审人</a:t>
          </a:r>
          <a:r>
            <a:rPr lang="en-US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(</a:t>
          </a: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校团委第二课堂运营中心学干或部长</a:t>
          </a:r>
          <a:r>
            <a:rPr lang="en-US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)</a:t>
          </a: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进行活动终审</a:t>
          </a:r>
        </a:p>
      </dsp:txBody>
      <dsp:txXfrm>
        <a:off x="2332605" y="2063728"/>
        <a:ext cx="3442947" cy="597099"/>
      </dsp:txXfrm>
    </dsp:sp>
    <dsp:sp modelId="{45B540D2-0F9B-4413-821C-A03A54531EBD}">
      <dsp:nvSpPr>
        <dsp:cNvPr id="0" name=""/>
        <dsp:cNvSpPr/>
      </dsp:nvSpPr>
      <dsp:spPr>
        <a:xfrm rot="5400000">
          <a:off x="4014456" y="2719027"/>
          <a:ext cx="79244" cy="7924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D9F1EE-75A5-4EB4-9BF8-8F289F20E610}">
      <dsp:nvSpPr>
        <dsp:cNvPr id="0" name=""/>
        <dsp:cNvSpPr/>
      </dsp:nvSpPr>
      <dsp:spPr bwMode="white">
        <a:xfrm>
          <a:off x="2335184" y="2837893"/>
          <a:ext cx="3437789" cy="452824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2246587"/>
            <a:satOff val="-7611"/>
            <a:lumOff val="-976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2246587"/>
              <a:satOff val="-7611"/>
              <a:lumOff val="-976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活动发布，学生报名参加活动</a:t>
          </a:r>
        </a:p>
      </dsp:txBody>
      <dsp:txXfrm>
        <a:off x="2348447" y="2851156"/>
        <a:ext cx="3411263" cy="426298"/>
      </dsp:txXfrm>
    </dsp:sp>
    <dsp:sp modelId="{2BEE60B3-CBAD-4F6C-96A2-61C17BF79306}">
      <dsp:nvSpPr>
        <dsp:cNvPr id="0" name=""/>
        <dsp:cNvSpPr/>
      </dsp:nvSpPr>
      <dsp:spPr>
        <a:xfrm rot="5400000">
          <a:off x="4014456" y="3330340"/>
          <a:ext cx="79244" cy="7924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3003797"/>
                <a:satOff val="-7742"/>
                <a:lumOff val="-5229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3003797"/>
                <a:satOff val="-7742"/>
                <a:lumOff val="-5229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3003797"/>
                <a:satOff val="-7742"/>
                <a:lumOff val="-5229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A4FCF5-7078-4C3F-8707-3280928BB52D}">
      <dsp:nvSpPr>
        <dsp:cNvPr id="0" name=""/>
        <dsp:cNvSpPr/>
      </dsp:nvSpPr>
      <dsp:spPr bwMode="white">
        <a:xfrm>
          <a:off x="1916357" y="3449206"/>
          <a:ext cx="4275442" cy="1015418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2246587"/>
            <a:satOff val="-7611"/>
            <a:lumOff val="-976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2246587"/>
              <a:satOff val="-7611"/>
              <a:lumOff val="-976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活动结束后活动发起人申请活动完结，活动完结审核人（校团委第二课堂运营中心学干或部长）进行活动完结审核</a:t>
          </a:r>
        </a:p>
      </dsp:txBody>
      <dsp:txXfrm>
        <a:off x="1946098" y="3478947"/>
        <a:ext cx="4215960" cy="955936"/>
      </dsp:txXfrm>
    </dsp:sp>
    <dsp:sp modelId="{2930223A-B31D-42B8-ABE6-C5FAD607A7FC}">
      <dsp:nvSpPr>
        <dsp:cNvPr id="0" name=""/>
        <dsp:cNvSpPr/>
      </dsp:nvSpPr>
      <dsp:spPr>
        <a:xfrm rot="5400000">
          <a:off x="4014456" y="4504246"/>
          <a:ext cx="79244" cy="7924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5">
                <a:hueOff val="-2533060"/>
                <a:satOff val="2678"/>
                <a:lumOff val="-49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533060"/>
                <a:satOff val="2678"/>
                <a:lumOff val="-49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533060"/>
                <a:satOff val="2678"/>
                <a:lumOff val="-49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08297F-73B7-45F3-A298-2FF020DDA0FD}">
      <dsp:nvSpPr>
        <dsp:cNvPr id="0" name=""/>
        <dsp:cNvSpPr/>
      </dsp:nvSpPr>
      <dsp:spPr bwMode="white">
        <a:xfrm>
          <a:off x="2335184" y="4623113"/>
          <a:ext cx="3437789" cy="452824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2995450"/>
            <a:satOff val="-10148"/>
            <a:lumOff val="-1301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2995450"/>
              <a:satOff val="-10148"/>
              <a:lumOff val="-1301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活动完结，获得第二课堂学分</a:t>
          </a:r>
        </a:p>
      </dsp:txBody>
      <dsp:txXfrm>
        <a:off x="2348447" y="4636376"/>
        <a:ext cx="3411263" cy="426298"/>
      </dsp:txXfrm>
    </dsp:sp>
    <dsp:sp modelId="{61B0C100-F017-4760-8329-0EC1749EBBC6}">
      <dsp:nvSpPr>
        <dsp:cNvPr id="0" name=""/>
        <dsp:cNvSpPr/>
      </dsp:nvSpPr>
      <dsp:spPr>
        <a:xfrm rot="5400000">
          <a:off x="4051285" y="5112520"/>
          <a:ext cx="60002" cy="79244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rgbClr val="5B9BD5">
                <a:hueOff val="-3754746"/>
                <a:satOff val="-9677"/>
                <a:lumOff val="-6536"/>
                <a:alphaOff val="0"/>
                <a:satMod val="103000"/>
                <a:lumMod val="102000"/>
                <a:tint val="94000"/>
              </a:srgbClr>
            </a:gs>
            <a:gs pos="50000">
              <a:srgbClr val="5B9BD5">
                <a:hueOff val="-3754746"/>
                <a:satOff val="-9677"/>
                <a:lumOff val="-6536"/>
                <a:alphaOff val="0"/>
                <a:satMod val="110000"/>
                <a:lumMod val="100000"/>
                <a:shade val="100000"/>
              </a:srgbClr>
            </a:gs>
            <a:gs pos="100000">
              <a:srgbClr val="5B9BD5">
                <a:hueOff val="-3754746"/>
                <a:satOff val="-9677"/>
                <a:lumOff val="-6536"/>
                <a:alphaOff val="0"/>
                <a:lumMod val="99000"/>
                <a:satMod val="120000"/>
                <a:shade val="78000"/>
              </a:srgb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319292-B00F-4AFB-AD3A-3247709BC975}">
      <dsp:nvSpPr>
        <dsp:cNvPr id="0" name=""/>
        <dsp:cNvSpPr/>
      </dsp:nvSpPr>
      <dsp:spPr bwMode="white">
        <a:xfrm>
          <a:off x="1868240" y="5215184"/>
          <a:ext cx="4371676" cy="452824"/>
        </a:xfrm>
        <a:prstGeom prst="roundRect">
          <a:avLst>
            <a:gd name="adj" fmla="val 10000"/>
          </a:avLst>
        </a:prstGeom>
        <a:solidFill>
          <a:srgbClr val="5B9BD5">
            <a:tint val="40000"/>
            <a:alpha val="90000"/>
            <a:hueOff val="-3744313"/>
            <a:satOff val="-12684"/>
            <a:lumOff val="-1627"/>
            <a:alphaOff val="0"/>
          </a:srgbClr>
        </a:solidFill>
        <a:ln w="6350" cap="flat" cmpd="sng" algn="ctr">
          <a:solidFill>
            <a:srgbClr val="5B9BD5">
              <a:tint val="40000"/>
              <a:alpha val="90000"/>
              <a:hueOff val="-3744313"/>
              <a:satOff val="-12684"/>
              <a:lumOff val="-1627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生成“第二课堂成绩单”，进入学生档案</a:t>
          </a:r>
        </a:p>
      </dsp:txBody>
      <dsp:txXfrm>
        <a:off x="1881503" y="5228447"/>
        <a:ext cx="4345150" cy="4262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#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  <dgm:param type="vertAlign" val="mid"/>
          <dgm:param type="nodeHorzAlign" val="l"/>
          <dgm:param type="fallback" val="2D"/>
        </dgm:alg>
      </dgm:if>
      <dgm:else name="Name3">
        <dgm:alg type="lin">
          <dgm:param type="linDir" val="fromR"/>
          <dgm:param type="nodeVertAlign" val="t"/>
          <dgm:param type="vertAlign" val="mid"/>
          <dgm:param type="nodeHorzAlign" val="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VertAlign" val="t"/>
              <dgm:param type="nodeHorzAlign" val="ctr"/>
              <dgm:param type="fallback" val="2D"/>
            </dgm:alg>
          </dgm:if>
          <dgm:else name="Name7">
            <dgm:alg type="lin">
              <dgm:param type="linDir" val="fromT"/>
              <dgm:param type="nodeVertAlign" val="t"/>
              <dgm:param type="nodeHorzAlign" val="ctr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#1">
  <dgm:title val=""/>
  <dgm:desc val=""/>
  <dgm:catLst>
    <dgm:cat type="3D" pri="11100"/>
  </dgm:catLst>
  <dgm:scene3d>
    <a:camera prst="orthographicFront"/>
    <a:lightRig rig="threePt" dir="t"/>
  </dgm:scene3d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AB639-2A19-4569-8AEF-252560CB3F7B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23246-3317-4276-AF2B-CD18A0718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005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  <a:t>1</a:t>
            </a:fld>
            <a:endParaRPr lang="zh-SG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  <a:t>3</a:t>
            </a:fld>
            <a:endParaRPr lang="zh-SG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  <a:t>5</a:t>
            </a:fld>
            <a:endParaRPr lang="zh-SG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007EC-4D01-7BDE-0786-855D17DB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895A48-BE09-F396-1854-9E882FE63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2E5033-8F64-3CE9-D488-B31E63475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41AA00-BBAB-BDDD-44E5-247FB0973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  <a:t>6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777522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9A18-2297-B7D9-E427-BAADF7563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D23BF9-424F-04A6-F7ED-8A89359D4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117D37-5D34-54DC-968D-39A6B9116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05A77-6C65-CD69-9C08-38C600B39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  <a:t>8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4051019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A5C1F-C098-2556-C8D1-424C48E4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0E955F-3972-58B1-B937-BF15596AF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C8EE77-8F79-F135-1A3A-9A437D379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921B8-7CF7-E79D-37B1-537A77B478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  <a:t>17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1198497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B3B1-A028-9227-99D1-E5103784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4E0FE2-804A-CA51-0D98-1A8E9A87F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B70232-1A2A-24A1-FF44-96AE28D34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8B50F4-41C7-4C21-8F5B-6AE3B1EF7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  <a:t>20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3052854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6BA47-1BE8-EB17-61D6-4ECE0D8D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C20CE6-E797-C16E-B147-99D9563C0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708A39C-9C81-1BCF-5A13-7C84B486E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417453-C320-B446-A598-C3448165B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AB93CE-5124-4277-BBE8-F7735A1952C7}" type="slidenum">
              <a:rPr lang="zh-SG" altLang="en-US" smtClean="0"/>
              <a:t>22</a:t>
            </a:fld>
            <a:endParaRPr lang="zh-SG" altLang="en-US"/>
          </a:p>
        </p:txBody>
      </p:sp>
    </p:spTree>
    <p:extLst>
      <p:ext uri="{BB962C8B-B14F-4D97-AF65-F5344CB8AC3E}">
        <p14:creationId xmlns:p14="http://schemas.microsoft.com/office/powerpoint/2010/main" val="2072171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9573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27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024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570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8051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969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241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686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430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067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813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绿色的叶子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 b="1599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-26635" y="-5137"/>
            <a:ext cx="12245271" cy="6868275"/>
            <a:chOff x="-1" y="0"/>
            <a:chExt cx="12245271" cy="6868275"/>
          </a:xfrm>
        </p:grpSpPr>
        <p:sp>
          <p:nvSpPr>
            <p:cNvPr id="22" name="任意多边形: 形状 21"/>
            <p:cNvSpPr/>
            <p:nvPr userDrawn="1">
              <p:custDataLst>
                <p:tags r:id="rId1"/>
              </p:custDataLst>
            </p:nvPr>
          </p:nvSpPr>
          <p:spPr>
            <a:xfrm flipH="1">
              <a:off x="-1" y="5137"/>
              <a:ext cx="9173817" cy="6858000"/>
            </a:xfrm>
            <a:custGeom>
              <a:avLst/>
              <a:gdLst>
                <a:gd name="connsiteX0" fmla="*/ 9215065 w 9215065"/>
                <a:gd name="connsiteY0" fmla="*/ 0 h 6858000"/>
                <a:gd name="connsiteX1" fmla="*/ 0 w 9215065"/>
                <a:gd name="connsiteY1" fmla="*/ 0 h 6858000"/>
                <a:gd name="connsiteX2" fmla="*/ 1149654 w 9215065"/>
                <a:gd name="connsiteY2" fmla="*/ 6858000 h 6858000"/>
                <a:gd name="connsiteX3" fmla="*/ 9215065 w 921506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15065" h="6858000">
                  <a:moveTo>
                    <a:pt x="9215065" y="0"/>
                  </a:moveTo>
                  <a:lnTo>
                    <a:pt x="0" y="0"/>
                  </a:lnTo>
                  <a:lnTo>
                    <a:pt x="1149654" y="6858000"/>
                  </a:lnTo>
                  <a:lnTo>
                    <a:pt x="9215065" y="6858000"/>
                  </a:lnTo>
                  <a:close/>
                </a:path>
              </a:pathLst>
            </a:custGeom>
            <a:solidFill>
              <a:schemeClr val="bg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任意多边形: 形状 16"/>
            <p:cNvSpPr/>
            <p:nvPr userDrawn="1">
              <p:custDataLst>
                <p:tags r:id="rId2"/>
              </p:custDataLst>
            </p:nvPr>
          </p:nvSpPr>
          <p:spPr>
            <a:xfrm flipH="1">
              <a:off x="8004747" y="0"/>
              <a:ext cx="4240523" cy="6868275"/>
            </a:xfrm>
            <a:custGeom>
              <a:avLst/>
              <a:gdLst>
                <a:gd name="connsiteX0" fmla="*/ 0 w 5083169"/>
                <a:gd name="connsiteY0" fmla="*/ 0 h 6846828"/>
                <a:gd name="connsiteX1" fmla="*/ 3527537 w 5083169"/>
                <a:gd name="connsiteY1" fmla="*/ 0 h 6846828"/>
                <a:gd name="connsiteX2" fmla="*/ 5083169 w 5083169"/>
                <a:gd name="connsiteY2" fmla="*/ 6846828 h 6846828"/>
                <a:gd name="connsiteX3" fmla="*/ 0 w 5083169"/>
                <a:gd name="connsiteY3" fmla="*/ 6846828 h 6846828"/>
                <a:gd name="connsiteX0-1" fmla="*/ 0 w 4867882"/>
                <a:gd name="connsiteY0-2" fmla="*/ 0 h 6857103"/>
                <a:gd name="connsiteX1-3" fmla="*/ 3527537 w 4867882"/>
                <a:gd name="connsiteY1-4" fmla="*/ 0 h 6857103"/>
                <a:gd name="connsiteX2-5" fmla="*/ 4867882 w 4867882"/>
                <a:gd name="connsiteY2-6" fmla="*/ 6857103 h 6857103"/>
                <a:gd name="connsiteX3-7" fmla="*/ 0 w 4867882"/>
                <a:gd name="connsiteY3-8" fmla="*/ 6846828 h 6857103"/>
                <a:gd name="connsiteX4" fmla="*/ 0 w 4867882"/>
                <a:gd name="connsiteY4" fmla="*/ 0 h 685710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" y="connsiteY4"/>
                </a:cxn>
              </a:cxnLst>
              <a:rect l="l" t="t" r="r" b="b"/>
              <a:pathLst>
                <a:path w="4867882" h="6857103">
                  <a:moveTo>
                    <a:pt x="0" y="0"/>
                  </a:moveTo>
                  <a:lnTo>
                    <a:pt x="3527537" y="0"/>
                  </a:lnTo>
                  <a:lnTo>
                    <a:pt x="4867882" y="6857103"/>
                  </a:lnTo>
                  <a:lnTo>
                    <a:pt x="0" y="6846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  <p:pic>
        <p:nvPicPr>
          <p:cNvPr id="43" name="图片 42" descr="绿色的叶子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" t="7870" r="2895" b="23862"/>
          <a:stretch>
            <a:fillRect/>
          </a:stretch>
        </p:blipFill>
        <p:spPr>
          <a:xfrm>
            <a:off x="376027" y="655081"/>
            <a:ext cx="11482939" cy="5573027"/>
          </a:xfrm>
          <a:custGeom>
            <a:avLst/>
            <a:gdLst>
              <a:gd name="connsiteX0" fmla="*/ 0 w 11482939"/>
              <a:gd name="connsiteY0" fmla="*/ 0 h 5573027"/>
              <a:gd name="connsiteX1" fmla="*/ 11482939 w 11482939"/>
              <a:gd name="connsiteY1" fmla="*/ 0 h 5573027"/>
              <a:gd name="connsiteX2" fmla="*/ 11482939 w 11482939"/>
              <a:gd name="connsiteY2" fmla="*/ 5573027 h 5573027"/>
              <a:gd name="connsiteX3" fmla="*/ 0 w 11482939"/>
              <a:gd name="connsiteY3" fmla="*/ 5573027 h 5573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82939" h="5573027">
                <a:moveTo>
                  <a:pt x="0" y="0"/>
                </a:moveTo>
                <a:lnTo>
                  <a:pt x="11482939" y="0"/>
                </a:lnTo>
                <a:lnTo>
                  <a:pt x="11482939" y="5573027"/>
                </a:lnTo>
                <a:lnTo>
                  <a:pt x="0" y="5573027"/>
                </a:lnTo>
                <a:close/>
              </a:path>
            </a:pathLst>
          </a:custGeom>
        </p:spPr>
      </p:pic>
      <p:grpSp>
        <p:nvGrpSpPr>
          <p:cNvPr id="13" name="组合 12"/>
          <p:cNvGrpSpPr/>
          <p:nvPr userDrawn="1"/>
        </p:nvGrpSpPr>
        <p:grpSpPr>
          <a:xfrm>
            <a:off x="333034" y="629893"/>
            <a:ext cx="11525932" cy="5598215"/>
            <a:chOff x="333034" y="629893"/>
            <a:chExt cx="11525932" cy="5598215"/>
          </a:xfrm>
        </p:grpSpPr>
        <p:grpSp>
          <p:nvGrpSpPr>
            <p:cNvPr id="12" name="组合 11"/>
            <p:cNvGrpSpPr/>
            <p:nvPr userDrawn="1"/>
          </p:nvGrpSpPr>
          <p:grpSpPr>
            <a:xfrm>
              <a:off x="333034" y="629893"/>
              <a:ext cx="11525932" cy="5598215"/>
              <a:chOff x="378745" y="1254695"/>
              <a:chExt cx="11525932" cy="5598215"/>
            </a:xfrm>
          </p:grpSpPr>
          <p:sp>
            <p:nvSpPr>
              <p:cNvPr id="41" name="任意多边形: 形状 40"/>
              <p:cNvSpPr/>
              <p:nvPr/>
            </p:nvSpPr>
            <p:spPr>
              <a:xfrm>
                <a:off x="378745" y="1254695"/>
                <a:ext cx="8729396" cy="5588000"/>
              </a:xfrm>
              <a:custGeom>
                <a:avLst/>
                <a:gdLst>
                  <a:gd name="connsiteX0" fmla="*/ 0 w 8729396"/>
                  <a:gd name="connsiteY0" fmla="*/ 0 h 5588000"/>
                  <a:gd name="connsiteX1" fmla="*/ 8729396 w 8729396"/>
                  <a:gd name="connsiteY1" fmla="*/ 0 h 5588000"/>
                  <a:gd name="connsiteX2" fmla="*/ 7791939 w 8729396"/>
                  <a:gd name="connsiteY2" fmla="*/ 5588000 h 5588000"/>
                  <a:gd name="connsiteX3" fmla="*/ 0 w 8729396"/>
                  <a:gd name="connsiteY3" fmla="*/ 5588000 h 558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729396" h="5588000">
                    <a:moveTo>
                      <a:pt x="0" y="0"/>
                    </a:moveTo>
                    <a:lnTo>
                      <a:pt x="8729396" y="0"/>
                    </a:lnTo>
                    <a:lnTo>
                      <a:pt x="7791939" y="5588000"/>
                    </a:lnTo>
                    <a:lnTo>
                      <a:pt x="0" y="5588000"/>
                    </a:lnTo>
                    <a:close/>
                  </a:path>
                </a:pathLst>
              </a:custGeom>
              <a:solidFill>
                <a:schemeClr val="bg2">
                  <a:alpha val="96000"/>
                </a:schemeClr>
              </a:solidFill>
              <a:ln w="31750"/>
              <a:effectLst>
                <a:outerShdw blurRad="127000" dist="38100" dir="5400000" algn="t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6000" dirty="0">
                  <a:cs typeface="+mn-ea"/>
                  <a:sym typeface="+mn-lt"/>
                </a:endParaRPr>
              </a:p>
            </p:txBody>
          </p:sp>
          <p:sp>
            <p:nvSpPr>
              <p:cNvPr id="20" name="任意多边形: 形状 19"/>
              <p:cNvSpPr/>
              <p:nvPr/>
            </p:nvSpPr>
            <p:spPr>
              <a:xfrm flipH="1">
                <a:off x="8170684" y="1264876"/>
                <a:ext cx="3733993" cy="5588034"/>
              </a:xfrm>
              <a:custGeom>
                <a:avLst/>
                <a:gdLst>
                  <a:gd name="connsiteX0" fmla="*/ 0 w 4456252"/>
                  <a:gd name="connsiteY0" fmla="*/ 5588000 h 5588000"/>
                  <a:gd name="connsiteX1" fmla="*/ 1278410 w 4456252"/>
                  <a:gd name="connsiteY1" fmla="*/ 0 h 5588000"/>
                  <a:gd name="connsiteX2" fmla="*/ 3177842 w 4456252"/>
                  <a:gd name="connsiteY2" fmla="*/ 0 h 5588000"/>
                  <a:gd name="connsiteX3" fmla="*/ 4456252 w 4456252"/>
                  <a:gd name="connsiteY3" fmla="*/ 5588000 h 5588000"/>
                  <a:gd name="connsiteX4" fmla="*/ 0 w 4456252"/>
                  <a:gd name="connsiteY4" fmla="*/ 5588000 h 5588000"/>
                  <a:gd name="connsiteX0-1" fmla="*/ 4456252 w 4547692"/>
                  <a:gd name="connsiteY0-2" fmla="*/ 5588000 h 5679440"/>
                  <a:gd name="connsiteX1-3" fmla="*/ 0 w 4547692"/>
                  <a:gd name="connsiteY1-4" fmla="*/ 5588000 h 5679440"/>
                  <a:gd name="connsiteX2-5" fmla="*/ 1278410 w 4547692"/>
                  <a:gd name="connsiteY2-6" fmla="*/ 0 h 5679440"/>
                  <a:gd name="connsiteX3-7" fmla="*/ 3177842 w 4547692"/>
                  <a:gd name="connsiteY3-8" fmla="*/ 0 h 5679440"/>
                  <a:gd name="connsiteX4-9" fmla="*/ 4547692 w 4547692"/>
                  <a:gd name="connsiteY4-10" fmla="*/ 5679440 h 5679440"/>
                  <a:gd name="connsiteX0-11" fmla="*/ 4456252 w 4456252"/>
                  <a:gd name="connsiteY0-12" fmla="*/ 5588000 h 5588000"/>
                  <a:gd name="connsiteX1-13" fmla="*/ 0 w 4456252"/>
                  <a:gd name="connsiteY1-14" fmla="*/ 5588000 h 5588000"/>
                  <a:gd name="connsiteX2-15" fmla="*/ 1278410 w 4456252"/>
                  <a:gd name="connsiteY2-16" fmla="*/ 0 h 5588000"/>
                  <a:gd name="connsiteX3-17" fmla="*/ 3177842 w 4456252"/>
                  <a:gd name="connsiteY3-18" fmla="*/ 0 h 5588000"/>
                  <a:gd name="connsiteX0-19" fmla="*/ 4503209 w 4503209"/>
                  <a:gd name="connsiteY0-20" fmla="*/ 5588000 h 5588000"/>
                  <a:gd name="connsiteX1-21" fmla="*/ 46957 w 4503209"/>
                  <a:gd name="connsiteY1-22" fmla="*/ 5588000 h 5588000"/>
                  <a:gd name="connsiteX2-23" fmla="*/ 0 w 4503209"/>
                  <a:gd name="connsiteY2-24" fmla="*/ 61645 h 5588000"/>
                  <a:gd name="connsiteX3-25" fmla="*/ 3224799 w 4503209"/>
                  <a:gd name="connsiteY3-26" fmla="*/ 0 h 5588000"/>
                  <a:gd name="connsiteX0-27" fmla="*/ 4503209 w 4503209"/>
                  <a:gd name="connsiteY0-28" fmla="*/ 5588000 h 5588000"/>
                  <a:gd name="connsiteX1-29" fmla="*/ 46957 w 4503209"/>
                  <a:gd name="connsiteY1-30" fmla="*/ 5588000 h 5588000"/>
                  <a:gd name="connsiteX2-31" fmla="*/ 0 w 4503209"/>
                  <a:gd name="connsiteY2-32" fmla="*/ 10275 h 5588000"/>
                  <a:gd name="connsiteX3-33" fmla="*/ 3224799 w 4503209"/>
                  <a:gd name="connsiteY3-34" fmla="*/ 0 h 5588000"/>
                  <a:gd name="connsiteX0-35" fmla="*/ 4311842 w 4311842"/>
                  <a:gd name="connsiteY0-36" fmla="*/ 5588000 h 5588000"/>
                  <a:gd name="connsiteX1-37" fmla="*/ 46957 w 4311842"/>
                  <a:gd name="connsiteY1-38" fmla="*/ 5588000 h 5588000"/>
                  <a:gd name="connsiteX2-39" fmla="*/ 0 w 4311842"/>
                  <a:gd name="connsiteY2-40" fmla="*/ 10275 h 5588000"/>
                  <a:gd name="connsiteX3-41" fmla="*/ 3224799 w 4311842"/>
                  <a:gd name="connsiteY3-42" fmla="*/ 0 h 5588000"/>
                  <a:gd name="connsiteX0-43" fmla="*/ 4265561 w 4265561"/>
                  <a:gd name="connsiteY0-44" fmla="*/ 5588000 h 5588000"/>
                  <a:gd name="connsiteX1-45" fmla="*/ 46957 w 4265561"/>
                  <a:gd name="connsiteY1-46" fmla="*/ 5588000 h 5588000"/>
                  <a:gd name="connsiteX2-47" fmla="*/ 0 w 4265561"/>
                  <a:gd name="connsiteY2-48" fmla="*/ 10275 h 5588000"/>
                  <a:gd name="connsiteX3-49" fmla="*/ 3224799 w 4265561"/>
                  <a:gd name="connsiteY3-50" fmla="*/ 0 h 5588000"/>
                  <a:gd name="connsiteX0-51" fmla="*/ 4265561 w 4265561"/>
                  <a:gd name="connsiteY0-52" fmla="*/ 5588000 h 5588000"/>
                  <a:gd name="connsiteX1-53" fmla="*/ 46957 w 4265561"/>
                  <a:gd name="connsiteY1-54" fmla="*/ 5588000 h 5588000"/>
                  <a:gd name="connsiteX2-55" fmla="*/ 0 w 4265561"/>
                  <a:gd name="connsiteY2-56" fmla="*/ 10275 h 5588000"/>
                  <a:gd name="connsiteX3-57" fmla="*/ 3194641 w 4265561"/>
                  <a:gd name="connsiteY3-58" fmla="*/ 0 h 5588000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4265561" h="5588000">
                    <a:moveTo>
                      <a:pt x="4265561" y="5588000"/>
                    </a:moveTo>
                    <a:lnTo>
                      <a:pt x="46957" y="5588000"/>
                    </a:lnTo>
                    <a:lnTo>
                      <a:pt x="0" y="10275"/>
                    </a:lnTo>
                    <a:lnTo>
                      <a:pt x="3194641" y="0"/>
                    </a:lnTo>
                  </a:path>
                </a:pathLst>
              </a:custGeom>
              <a:solidFill>
                <a:schemeClr val="accent1">
                  <a:alpha val="90000"/>
                </a:schemeClr>
              </a:solidFill>
              <a:ln w="317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0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 flipH="1">
              <a:off x="10572502" y="5800567"/>
              <a:ext cx="966987" cy="152400"/>
              <a:chOff x="9774601" y="5660136"/>
              <a:chExt cx="966987" cy="152400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1004613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1031765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10589188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9774601" y="5660136"/>
                <a:ext cx="1524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4" name="组合 33"/>
            <p:cNvGrpSpPr/>
            <p:nvPr userDrawn="1"/>
          </p:nvGrpSpPr>
          <p:grpSpPr>
            <a:xfrm>
              <a:off x="664749" y="870774"/>
              <a:ext cx="966987" cy="152400"/>
              <a:chOff x="9800002" y="5660136"/>
              <a:chExt cx="966987" cy="152400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10071531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矩形 35"/>
              <p:cNvSpPr/>
              <p:nvPr/>
            </p:nvSpPr>
            <p:spPr>
              <a:xfrm>
                <a:off x="1034306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>
                <a:off x="1061458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9800002" y="5660136"/>
                <a:ext cx="1524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22903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绿色的叶子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" r="82" b="15992"/>
          <a:stretch>
            <a:fillRect/>
          </a:stretch>
        </p:blipFill>
        <p:spPr>
          <a:xfrm>
            <a:off x="-13318" y="1"/>
            <a:ext cx="12208526" cy="6857999"/>
          </a:xfrm>
          <a:prstGeom prst="rect">
            <a:avLst/>
          </a:prstGeom>
        </p:spPr>
      </p:pic>
      <p:sp>
        <p:nvSpPr>
          <p:cNvPr id="14" name="任意多边形: 形状 1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图片 10" descr="绿色的叶子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40"/>
          <a:stretch>
            <a:fillRect/>
          </a:stretch>
        </p:blipFill>
        <p:spPr>
          <a:xfrm>
            <a:off x="440077" y="406471"/>
            <a:ext cx="11311846" cy="6045058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440077" y="406471"/>
            <a:ext cx="11311846" cy="6045058"/>
          </a:xfrm>
          <a:prstGeom prst="rect">
            <a:avLst/>
          </a:prstGeom>
          <a:solidFill>
            <a:schemeClr val="bg1">
              <a:alpha val="95000"/>
            </a:schemeClr>
          </a:solidFill>
          <a:ln w="0" cap="flat" cmpd="sng" algn="ctr">
            <a:noFill/>
            <a:prstDash val="solid"/>
            <a:miter lim="800000"/>
          </a:ln>
          <a:effectLst>
            <a:outerShdw blurRad="127000" dist="76200" dir="2700000" algn="tl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4220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绿色的叶子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" b="15992"/>
          <a:stretch>
            <a:fillRect/>
          </a:stretch>
        </p:blipFill>
        <p:spPr>
          <a:xfrm>
            <a:off x="-12700" y="1"/>
            <a:ext cx="12204700" cy="6857999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矩形 6"/>
            <p:cNvSpPr/>
            <p:nvPr>
              <p:custDataLst>
                <p:tags r:id="rId1"/>
              </p:custDataLst>
            </p:nvPr>
          </p:nvSpPr>
          <p:spPr>
            <a:xfrm>
              <a:off x="6096000" y="0"/>
              <a:ext cx="6096000" cy="6858000"/>
            </a:xfrm>
            <a:prstGeom prst="rect">
              <a:avLst/>
            </a:prstGeom>
            <a:solidFill>
              <a:schemeClr val="bg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0" y="0"/>
              <a:ext cx="6096000" cy="6858000"/>
            </a:xfrm>
            <a:prstGeom prst="rect">
              <a:avLst/>
            </a:prstGeom>
            <a:solidFill>
              <a:schemeClr val="accent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矩形 10"/>
          <p:cNvSpPr/>
          <p:nvPr userDrawn="1"/>
        </p:nvSpPr>
        <p:spPr>
          <a:xfrm>
            <a:off x="420431" y="395239"/>
            <a:ext cx="11351138" cy="6067522"/>
          </a:xfrm>
          <a:prstGeom prst="rect">
            <a:avLst/>
          </a:prstGeom>
          <a:solidFill>
            <a:schemeClr val="bg1">
              <a:alpha val="92000"/>
            </a:schemeClr>
          </a:solidFill>
          <a:ln w="0" cap="flat" cmpd="sng" algn="ctr">
            <a:noFill/>
            <a:prstDash val="solid"/>
            <a:miter lim="800000"/>
          </a:ln>
          <a:effectLst>
            <a:outerShdw blurRad="127000" dist="76200" dir="2700000" algn="tl" rotWithShape="0">
              <a:schemeClr val="accent1">
                <a:lumMod val="50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 userDrawn="1"/>
        </p:nvGrpSpPr>
        <p:grpSpPr>
          <a:xfrm flipH="1">
            <a:off x="10241326" y="5715501"/>
            <a:ext cx="966987" cy="152400"/>
            <a:chOff x="9774601" y="5660136"/>
            <a:chExt cx="966987" cy="152400"/>
          </a:xfrm>
        </p:grpSpPr>
        <p:sp>
          <p:nvSpPr>
            <p:cNvPr id="18" name="矩形 17"/>
            <p:cNvSpPr/>
            <p:nvPr/>
          </p:nvSpPr>
          <p:spPr>
            <a:xfrm>
              <a:off x="10046130" y="5660136"/>
              <a:ext cx="152400" cy="15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0317659" y="5660136"/>
              <a:ext cx="152400" cy="152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0589188" y="5660136"/>
              <a:ext cx="152400" cy="152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9774601" y="5660136"/>
              <a:ext cx="152400" cy="152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任意多边形: 形状 22"/>
          <p:cNvSpPr/>
          <p:nvPr userDrawn="1"/>
        </p:nvSpPr>
        <p:spPr>
          <a:xfrm>
            <a:off x="1029903" y="1645921"/>
            <a:ext cx="10178410" cy="3474720"/>
          </a:xfrm>
          <a:custGeom>
            <a:avLst/>
            <a:gdLst>
              <a:gd name="connsiteX0" fmla="*/ 0 w 10195560"/>
              <a:gd name="connsiteY0" fmla="*/ 0 h 3474720"/>
              <a:gd name="connsiteX1" fmla="*/ 10195560 w 10195560"/>
              <a:gd name="connsiteY1" fmla="*/ 0 h 3474720"/>
              <a:gd name="connsiteX2" fmla="*/ 10195560 w 10195560"/>
              <a:gd name="connsiteY2" fmla="*/ 1530157 h 3474720"/>
              <a:gd name="connsiteX3" fmla="*/ 9838314 w 10195560"/>
              <a:gd name="connsiteY3" fmla="*/ 1737360 h 3474720"/>
              <a:gd name="connsiteX4" fmla="*/ 10195560 w 10195560"/>
              <a:gd name="connsiteY4" fmla="*/ 1944562 h 3474720"/>
              <a:gd name="connsiteX5" fmla="*/ 10195560 w 10195560"/>
              <a:gd name="connsiteY5" fmla="*/ 3474720 h 3474720"/>
              <a:gd name="connsiteX6" fmla="*/ 0 w 10195560"/>
              <a:gd name="connsiteY6" fmla="*/ 3474720 h 3474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95560" h="3474720">
                <a:moveTo>
                  <a:pt x="0" y="0"/>
                </a:moveTo>
                <a:lnTo>
                  <a:pt x="10195560" y="0"/>
                </a:lnTo>
                <a:lnTo>
                  <a:pt x="10195560" y="1530157"/>
                </a:lnTo>
                <a:lnTo>
                  <a:pt x="9838314" y="1737360"/>
                </a:lnTo>
                <a:lnTo>
                  <a:pt x="10195560" y="1944562"/>
                </a:lnTo>
                <a:lnTo>
                  <a:pt x="10195560" y="3474720"/>
                </a:lnTo>
                <a:lnTo>
                  <a:pt x="0" y="34747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/>
            <a:endParaRPr lang="zh-CN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054777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绿色的叶子&#10;&#10;描述已自动生成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 b="1599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7" name="任意多边形: 形状 6"/>
          <p:cNvSpPr/>
          <p:nvPr>
            <p:custDataLst>
              <p:tags r:id="rId1"/>
            </p:custDataLst>
          </p:nvPr>
        </p:nvSpPr>
        <p:spPr>
          <a:xfrm>
            <a:off x="2783540" y="0"/>
            <a:ext cx="9407061" cy="6858000"/>
          </a:xfrm>
          <a:custGeom>
            <a:avLst/>
            <a:gdLst>
              <a:gd name="connsiteX0" fmla="*/ 0 w 9407061"/>
              <a:gd name="connsiteY0" fmla="*/ 0 h 6858000"/>
              <a:gd name="connsiteX1" fmla="*/ 9407061 w 9407061"/>
              <a:gd name="connsiteY1" fmla="*/ 0 h 6858000"/>
              <a:gd name="connsiteX2" fmla="*/ 9407061 w 9407061"/>
              <a:gd name="connsiteY2" fmla="*/ 6858000 h 6858000"/>
              <a:gd name="connsiteX3" fmla="*/ 0 w 94070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07061" h="6858000">
                <a:moveTo>
                  <a:pt x="0" y="0"/>
                </a:moveTo>
                <a:lnTo>
                  <a:pt x="9407061" y="0"/>
                </a:lnTo>
                <a:lnTo>
                  <a:pt x="94070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0" y="0"/>
            <a:ext cx="6949440" cy="6858000"/>
          </a:xfrm>
          <a:custGeom>
            <a:avLst/>
            <a:gdLst>
              <a:gd name="connsiteX0" fmla="*/ 0 w 6949440"/>
              <a:gd name="connsiteY0" fmla="*/ 0 h 6858000"/>
              <a:gd name="connsiteX1" fmla="*/ 5234940 w 6949440"/>
              <a:gd name="connsiteY1" fmla="*/ 0 h 6858000"/>
              <a:gd name="connsiteX2" fmla="*/ 6949440 w 6949440"/>
              <a:gd name="connsiteY2" fmla="*/ 6858000 h 6858000"/>
              <a:gd name="connsiteX3" fmla="*/ 0 w 69494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49440" h="6858000">
                <a:moveTo>
                  <a:pt x="0" y="0"/>
                </a:moveTo>
                <a:lnTo>
                  <a:pt x="5234940" y="0"/>
                </a:lnTo>
                <a:lnTo>
                  <a:pt x="69494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341086" y="359229"/>
            <a:ext cx="11509829" cy="6139543"/>
            <a:chOff x="341086" y="359229"/>
            <a:chExt cx="11509829" cy="6139543"/>
          </a:xfrm>
        </p:grpSpPr>
        <p:sp>
          <p:nvSpPr>
            <p:cNvPr id="11" name="矩形 10"/>
            <p:cNvSpPr/>
            <p:nvPr userDrawn="1"/>
          </p:nvSpPr>
          <p:spPr>
            <a:xfrm>
              <a:off x="341086" y="359229"/>
              <a:ext cx="11509829" cy="6139543"/>
            </a:xfrm>
            <a:prstGeom prst="rect">
              <a:avLst/>
            </a:prstGeom>
            <a:solidFill>
              <a:schemeClr val="bg1">
                <a:alpha val="92000"/>
              </a:schemeClr>
            </a:solidFill>
            <a:ln w="0" cap="flat" cmpd="sng" algn="ctr">
              <a:noFill/>
              <a:prstDash val="solid"/>
              <a:miter lim="800000"/>
            </a:ln>
            <a:effectLst>
              <a:outerShdw blurRad="127000" dist="76200" dir="2700000" algn="tl" rotWithShape="0">
                <a:schemeClr val="accent1">
                  <a:lumMod val="50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 userDrawn="1"/>
          </p:nvGrpSpPr>
          <p:grpSpPr>
            <a:xfrm flipH="1">
              <a:off x="10570977" y="6019903"/>
              <a:ext cx="966987" cy="152400"/>
              <a:chOff x="9774601" y="5660136"/>
              <a:chExt cx="966987" cy="152400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004613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031765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0589188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9774601" y="5660136"/>
                <a:ext cx="152400" cy="152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6" name="标题 1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80771" y="606890"/>
            <a:ext cx="4813123" cy="44196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>
              <a:defRPr lang="zh-CN" altLang="en-US" sz="2800" dirty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635052" y="631428"/>
            <a:ext cx="45719" cy="3928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4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64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510814" y="1805870"/>
            <a:ext cx="8848676" cy="203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spcBef>
                <a:spcPts val="0"/>
              </a:spcBef>
              <a:buSzPct val="100000"/>
            </a:pPr>
            <a:r>
              <a:rPr lang="zh-CN" altLang="en-US" sz="66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+mn-ea"/>
                <a:sym typeface="+mn-lt"/>
              </a:rPr>
              <a:t>“第二课堂成绩单”</a:t>
            </a:r>
            <a:endParaRPr lang="en-US" altLang="zh-CN" sz="6600" b="0" dirty="0">
              <a:solidFill>
                <a:schemeClr val="tx2">
                  <a:lumMod val="75000"/>
                  <a:lumOff val="25000"/>
                </a:schemeClr>
              </a:solidFill>
              <a:latin typeface="方正粗黑宋简体" panose="02000000000000000000" pitchFamily="2" charset="-122"/>
              <a:ea typeface="方正粗黑宋简体" panose="02000000000000000000" pitchFamily="2" charset="-122"/>
              <a:cs typeface="+mn-ea"/>
              <a:sym typeface="+mn-lt"/>
            </a:endParaRPr>
          </a:p>
          <a:p>
            <a:pPr>
              <a:spcBef>
                <a:spcPts val="0"/>
              </a:spcBef>
              <a:buSzPct val="100000"/>
            </a:pPr>
            <a:r>
              <a:rPr lang="zh-CN" altLang="en-US" sz="66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+mn-ea"/>
                <a:sym typeface="+mn-lt"/>
              </a:rPr>
              <a:t>制度实施办法培训会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832847" y="4483229"/>
            <a:ext cx="2932716" cy="490220"/>
            <a:chOff x="911225" y="3795252"/>
            <a:chExt cx="2629536" cy="490220"/>
          </a:xfrm>
        </p:grpSpPr>
        <p:sp>
          <p:nvSpPr>
            <p:cNvPr id="35" name="矩形 34"/>
            <p:cNvSpPr/>
            <p:nvPr/>
          </p:nvSpPr>
          <p:spPr>
            <a:xfrm>
              <a:off x="911225" y="3795252"/>
              <a:ext cx="2629535" cy="49022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092201" y="3902004"/>
              <a:ext cx="244856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校团委第二课堂运营中心</a:t>
              </a:r>
              <a:endParaRPr lang="en-US" altLang="zh-CN" dirty="0" err="1">
                <a:solidFill>
                  <a:schemeClr val="bg1"/>
                </a:solidFill>
                <a:latin typeface="+mn-ea"/>
                <a:cs typeface="+mn-ea"/>
                <a:sym typeface="+mn-ea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832846" y="4028774"/>
            <a:ext cx="2932715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lnSpc>
                <a:spcPct val="100000"/>
              </a:lnSpc>
              <a:buSzPct val="100000"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2024.10.22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412923" y="1193519"/>
            <a:ext cx="5366151" cy="1015663"/>
            <a:chOff x="3412923" y="1193519"/>
            <a:chExt cx="5366151" cy="1015663"/>
          </a:xfrm>
        </p:grpSpPr>
        <p:sp>
          <p:nvSpPr>
            <p:cNvPr id="45" name="文本框 44"/>
            <p:cNvSpPr txBox="1"/>
            <p:nvPr/>
          </p:nvSpPr>
          <p:spPr>
            <a:xfrm>
              <a:off x="5125380" y="1193519"/>
              <a:ext cx="1941237" cy="10156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zh-CN" altLang="en-US" sz="6600" dirty="0">
                  <a:solidFill>
                    <a:schemeClr val="accent1"/>
                  </a:solidFill>
                  <a:latin typeface="+mj-ea"/>
                  <a:ea typeface="+mj-ea"/>
                </a:rPr>
                <a:t>目 录</a:t>
              </a:r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7812087" y="1625150"/>
              <a:ext cx="966987" cy="152400"/>
              <a:chOff x="9774601" y="5660136"/>
              <a:chExt cx="966987" cy="152400"/>
            </a:xfrm>
          </p:grpSpPr>
          <p:sp>
            <p:nvSpPr>
              <p:cNvPr id="75" name="矩形 74"/>
              <p:cNvSpPr/>
              <p:nvPr/>
            </p:nvSpPr>
            <p:spPr>
              <a:xfrm>
                <a:off x="1004613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1031765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10589188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9774601" y="5660136"/>
                <a:ext cx="152400" cy="15240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 flipH="1">
              <a:off x="3412923" y="1625150"/>
              <a:ext cx="966987" cy="152400"/>
              <a:chOff x="9774601" y="5660136"/>
              <a:chExt cx="966987" cy="152400"/>
            </a:xfrm>
          </p:grpSpPr>
          <p:sp>
            <p:nvSpPr>
              <p:cNvPr id="80" name="矩形 79"/>
              <p:cNvSpPr/>
              <p:nvPr/>
            </p:nvSpPr>
            <p:spPr>
              <a:xfrm>
                <a:off x="10046130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10317659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10589188" y="5660136"/>
                <a:ext cx="152400" cy="1524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9774601" y="5660136"/>
                <a:ext cx="152400" cy="15240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p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1508579" y="3032306"/>
            <a:ext cx="1231265" cy="1782445"/>
            <a:chOff x="2075" y="4789"/>
            <a:chExt cx="1939" cy="2807"/>
          </a:xfrm>
        </p:grpSpPr>
        <p:sp>
          <p:nvSpPr>
            <p:cNvPr id="49" name="泪滴形 48"/>
            <p:cNvSpPr/>
            <p:nvPr/>
          </p:nvSpPr>
          <p:spPr>
            <a:xfrm>
              <a:off x="2356" y="4789"/>
              <a:ext cx="1380" cy="138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2000" dirty="0"/>
                <a:t>01</a:t>
              </a:r>
              <a:endParaRPr lang="zh-CN" altLang="en-US" sz="2000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075" y="6433"/>
              <a:ext cx="1939" cy="1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课程项目</a:t>
              </a:r>
              <a:endParaRPr lang="en-US" altLang="zh-CN" sz="2400" dirty="0">
                <a:solidFill>
                  <a:schemeClr val="accent1"/>
                </a:solidFill>
                <a:latin typeface="+mj-ea"/>
                <a:ea typeface="+mj-ea"/>
                <a:sym typeface="+mn-ea"/>
              </a:endParaRPr>
            </a:p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概述</a:t>
              </a:r>
              <a:endParaRPr lang="zh-CN" altLang="en-US" sz="24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244794" y="3032306"/>
            <a:ext cx="1231265" cy="1782445"/>
            <a:chOff x="6629" y="4789"/>
            <a:chExt cx="1939" cy="2807"/>
          </a:xfrm>
        </p:grpSpPr>
        <p:sp>
          <p:nvSpPr>
            <p:cNvPr id="52" name="泪滴形 51"/>
            <p:cNvSpPr/>
            <p:nvPr/>
          </p:nvSpPr>
          <p:spPr>
            <a:xfrm>
              <a:off x="6909" y="4789"/>
              <a:ext cx="1380" cy="138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2000" dirty="0"/>
                <a:t>02</a:t>
              </a:r>
              <a:endParaRPr lang="zh-CN" altLang="en-US" sz="2000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629" y="6433"/>
              <a:ext cx="1939" cy="1163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学分认定</a:t>
              </a:r>
              <a:endParaRPr lang="en-US" altLang="zh-CN" sz="2400" dirty="0">
                <a:solidFill>
                  <a:schemeClr val="accent1"/>
                </a:solidFill>
                <a:latin typeface="+mj-ea"/>
                <a:ea typeface="+mj-ea"/>
                <a:sym typeface="+mn-ea"/>
              </a:endParaRPr>
            </a:p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细则</a:t>
              </a:r>
              <a:endParaRPr lang="zh-CN" altLang="en-US" sz="24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61629" y="3032306"/>
            <a:ext cx="1231265" cy="1413510"/>
            <a:chOff x="10627" y="4789"/>
            <a:chExt cx="1939" cy="2226"/>
          </a:xfrm>
        </p:grpSpPr>
        <p:sp>
          <p:nvSpPr>
            <p:cNvPr id="55" name="泪滴形 54"/>
            <p:cNvSpPr/>
            <p:nvPr/>
          </p:nvSpPr>
          <p:spPr>
            <a:xfrm>
              <a:off x="10908" y="4789"/>
              <a:ext cx="1380" cy="138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2000" dirty="0"/>
                <a:t>03</a:t>
              </a:r>
              <a:endParaRPr lang="zh-CN" altLang="en-US" sz="2000" dirty="0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0627" y="6433"/>
              <a:ext cx="1939" cy="58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注意事项</a:t>
              </a:r>
              <a:endParaRPr lang="zh-CN" altLang="en-US" sz="24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682934" y="3032306"/>
            <a:ext cx="1231265" cy="1413510"/>
            <a:chOff x="14947" y="4789"/>
            <a:chExt cx="1939" cy="2226"/>
          </a:xfrm>
        </p:grpSpPr>
        <p:sp>
          <p:nvSpPr>
            <p:cNvPr id="66" name="泪滴形 65"/>
            <p:cNvSpPr/>
            <p:nvPr/>
          </p:nvSpPr>
          <p:spPr>
            <a:xfrm>
              <a:off x="15225" y="4789"/>
              <a:ext cx="1380" cy="138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r>
                <a:rPr lang="en-US" altLang="zh-CN" sz="2000" dirty="0"/>
                <a:t>04</a:t>
              </a:r>
              <a:endParaRPr lang="zh-CN" altLang="en-US" sz="2000" dirty="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14947" y="6433"/>
              <a:ext cx="1939" cy="582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accent1"/>
                  </a:solidFill>
                  <a:latin typeface="+mj-ea"/>
                  <a:ea typeface="+mj-ea"/>
                  <a:sym typeface="+mn-ea"/>
                </a:rPr>
                <a:t>认证流程</a:t>
              </a:r>
              <a:endParaRPr lang="zh-CN" altLang="en-US" sz="2400" dirty="0">
                <a:solidFill>
                  <a:schemeClr val="accent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747926" y="1941900"/>
            <a:ext cx="3484928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23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08974" y="3426553"/>
            <a:ext cx="2840703" cy="6949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92980" y="3596199"/>
            <a:ext cx="1588576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bg1"/>
                </a:solidFill>
              </a:rPr>
              <a:t>PART ONE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96596" y="2872555"/>
            <a:ext cx="5078313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课程项目概述</a:t>
            </a:r>
            <a:endParaRPr kumimoji="1" lang="zh-CN" altLang="en-US" sz="66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01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课程项目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5E46EE9-414D-30E9-A220-2F910A75AE81}"/>
              </a:ext>
            </a:extLst>
          </p:cNvPr>
          <p:cNvGrpSpPr/>
          <p:nvPr/>
        </p:nvGrpSpPr>
        <p:grpSpPr>
          <a:xfrm>
            <a:off x="2258227" y="1748407"/>
            <a:ext cx="8073328" cy="1346036"/>
            <a:chOff x="2342425" y="1946459"/>
            <a:chExt cx="7489424" cy="1035262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C7A95D56-FB81-0EB0-BB76-FE89AB1EFCCD}"/>
                </a:ext>
              </a:extLst>
            </p:cNvPr>
            <p:cNvGrpSpPr/>
            <p:nvPr/>
          </p:nvGrpSpPr>
          <p:grpSpPr>
            <a:xfrm>
              <a:off x="2342425" y="1966724"/>
              <a:ext cx="2130037" cy="1014997"/>
              <a:chOff x="2342425" y="1966724"/>
              <a:chExt cx="2130037" cy="1014997"/>
            </a:xfrm>
          </p:grpSpPr>
          <p:pic>
            <p:nvPicPr>
              <p:cNvPr id="3" name="图片 2" descr="形状&#10;&#10;中度可信度描述已自动生成">
                <a:extLst>
                  <a:ext uri="{FF2B5EF4-FFF2-40B4-BE49-F238E27FC236}">
                    <a16:creationId xmlns:a16="http://schemas.microsoft.com/office/drawing/2014/main" id="{2D2A6E21-23AB-1FC2-056D-3F9ECAA029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3655"/>
              <a:stretch>
                <a:fillRect/>
              </a:stretch>
            </p:blipFill>
            <p:spPr>
              <a:xfrm>
                <a:off x="2342425" y="2712624"/>
                <a:ext cx="2130037" cy="269097"/>
              </a:xfrm>
              <a:prstGeom prst="rect">
                <a:avLst/>
              </a:prstGeom>
            </p:spPr>
          </p:pic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D4A6BC0-CDD9-B9EF-9FFA-25556E8678F8}"/>
                  </a:ext>
                </a:extLst>
              </p:cNvPr>
              <p:cNvSpPr txBox="1"/>
              <p:nvPr/>
            </p:nvSpPr>
            <p:spPr>
              <a:xfrm>
                <a:off x="2458933" y="2368727"/>
                <a:ext cx="189702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+mj-ea"/>
                    <a:ea typeface="+mj-ea"/>
                  </a:rPr>
                  <a:t>思想成长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31ECB90-790B-C6C2-1276-ABD8F0154188}"/>
                  </a:ext>
                </a:extLst>
              </p:cNvPr>
              <p:cNvSpPr txBox="1"/>
              <p:nvPr/>
            </p:nvSpPr>
            <p:spPr>
              <a:xfrm>
                <a:off x="3165238" y="1966724"/>
                <a:ext cx="727187" cy="5134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/>
                <a:r>
                  <a:rPr lang="en-US" altLang="zh-CN" sz="3600" dirty="0">
                    <a:solidFill>
                      <a:schemeClr val="tx2">
                        <a:lumMod val="50000"/>
                        <a:lumOff val="50000"/>
                      </a:schemeClr>
                    </a:solidFill>
                    <a:latin typeface="+mj-ea"/>
                    <a:ea typeface="+mj-ea"/>
                  </a:rPr>
                  <a:t>01</a:t>
                </a:r>
                <a:endParaRPr lang="zh-CN" altLang="en-US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pic>
          <p:nvPicPr>
            <p:cNvPr id="7" name="图片 6" descr="形状&#10;&#10;中度可信度描述已自动生成">
              <a:extLst>
                <a:ext uri="{FF2B5EF4-FFF2-40B4-BE49-F238E27FC236}">
                  <a16:creationId xmlns:a16="http://schemas.microsoft.com/office/drawing/2014/main" id="{82262A97-118F-1B34-7CE3-9318045F6A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5022119" y="2712624"/>
              <a:ext cx="2130037" cy="269097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341AA03-1764-39F5-A8BB-E2C725341C49}"/>
                </a:ext>
              </a:extLst>
            </p:cNvPr>
            <p:cNvSpPr txBox="1"/>
            <p:nvPr/>
          </p:nvSpPr>
          <p:spPr>
            <a:xfrm>
              <a:off x="5326559" y="2368727"/>
              <a:ext cx="1538883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实践工作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EA1BD19-A397-B6CB-4BB8-49F1C77099CF}"/>
                </a:ext>
              </a:extLst>
            </p:cNvPr>
            <p:cNvSpPr txBox="1"/>
            <p:nvPr/>
          </p:nvSpPr>
          <p:spPr>
            <a:xfrm>
              <a:off x="5817833" y="1946460"/>
              <a:ext cx="538609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02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1" name="图片 10" descr="形状&#10;&#10;中度可信度描述已自动生成">
              <a:extLst>
                <a:ext uri="{FF2B5EF4-FFF2-40B4-BE49-F238E27FC236}">
                  <a16:creationId xmlns:a16="http://schemas.microsoft.com/office/drawing/2014/main" id="{52CE27E7-48EC-EA48-A3E6-10A1DF0B88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7701812" y="2712624"/>
              <a:ext cx="2130037" cy="269097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B73AAD1-D48B-AB5C-7422-BD342A4A30DC}"/>
                </a:ext>
              </a:extLst>
            </p:cNvPr>
            <p:cNvSpPr txBox="1"/>
            <p:nvPr/>
          </p:nvSpPr>
          <p:spPr>
            <a:xfrm>
              <a:off x="7997389" y="2368727"/>
              <a:ext cx="1538883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志愿公益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37C354C-ED37-4CB3-A0A6-3CB917DCB26D}"/>
                </a:ext>
              </a:extLst>
            </p:cNvPr>
            <p:cNvSpPr txBox="1"/>
            <p:nvPr/>
          </p:nvSpPr>
          <p:spPr>
            <a:xfrm>
              <a:off x="8497526" y="1946459"/>
              <a:ext cx="538609" cy="5539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03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4511866-C491-206F-8CA8-2EB059A74464}"/>
              </a:ext>
            </a:extLst>
          </p:cNvPr>
          <p:cNvGrpSpPr/>
          <p:nvPr/>
        </p:nvGrpSpPr>
        <p:grpSpPr>
          <a:xfrm>
            <a:off x="1450917" y="3982464"/>
            <a:ext cx="7417488" cy="1434506"/>
            <a:chOff x="1186581" y="3871666"/>
            <a:chExt cx="7310945" cy="968318"/>
          </a:xfrm>
        </p:grpSpPr>
        <p:pic>
          <p:nvPicPr>
            <p:cNvPr id="15" name="图片 14" descr="形状&#10;&#10;中度可信度描述已自动生成">
              <a:extLst>
                <a:ext uri="{FF2B5EF4-FFF2-40B4-BE49-F238E27FC236}">
                  <a16:creationId xmlns:a16="http://schemas.microsoft.com/office/drawing/2014/main" id="{C0A39448-1E04-7E26-408A-899B00C890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1186581" y="4552158"/>
              <a:ext cx="2130037" cy="269097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07D9AF9-1EA8-4F55-E0F7-16587731B9DD}"/>
                </a:ext>
              </a:extLst>
            </p:cNvPr>
            <p:cNvSpPr txBox="1"/>
            <p:nvPr/>
          </p:nvSpPr>
          <p:spPr>
            <a:xfrm>
              <a:off x="1482158" y="4228950"/>
              <a:ext cx="1538883" cy="2908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创新创业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1E0BEC5-66B1-1D8A-85EE-6F2A25A634BB}"/>
                </a:ext>
              </a:extLst>
            </p:cNvPr>
            <p:cNvSpPr txBox="1"/>
            <p:nvPr/>
          </p:nvSpPr>
          <p:spPr>
            <a:xfrm>
              <a:off x="1982295" y="3890395"/>
              <a:ext cx="538609" cy="3739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04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9" name="图片 18" descr="形状&#10;&#10;中度可信度描述已自动生成">
              <a:extLst>
                <a:ext uri="{FF2B5EF4-FFF2-40B4-BE49-F238E27FC236}">
                  <a16:creationId xmlns:a16="http://schemas.microsoft.com/office/drawing/2014/main" id="{DB8B22FC-61C8-4E9D-A77C-1111D9DE11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3777035" y="4566404"/>
              <a:ext cx="2130037" cy="269097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1B53828-06D1-F774-42ED-3A34FA2FEF52}"/>
                </a:ext>
              </a:extLst>
            </p:cNvPr>
            <p:cNvSpPr txBox="1"/>
            <p:nvPr/>
          </p:nvSpPr>
          <p:spPr>
            <a:xfrm>
              <a:off x="4072612" y="4214705"/>
              <a:ext cx="1538883" cy="2908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文体活动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06A5962-0D4F-96B6-8EA0-630E0C0273AA}"/>
                </a:ext>
              </a:extLst>
            </p:cNvPr>
            <p:cNvSpPr txBox="1"/>
            <p:nvPr/>
          </p:nvSpPr>
          <p:spPr>
            <a:xfrm>
              <a:off x="4572749" y="3876150"/>
              <a:ext cx="538609" cy="3739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05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23" name="图片 22" descr="形状&#10;&#10;中度可信度描述已自动生成">
              <a:extLst>
                <a:ext uri="{FF2B5EF4-FFF2-40B4-BE49-F238E27FC236}">
                  <a16:creationId xmlns:a16="http://schemas.microsoft.com/office/drawing/2014/main" id="{74B93719-411A-B533-B764-64098F62B0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3655"/>
            <a:stretch>
              <a:fillRect/>
            </a:stretch>
          </p:blipFill>
          <p:spPr>
            <a:xfrm>
              <a:off x="6367489" y="4570887"/>
              <a:ext cx="2130037" cy="269097"/>
            </a:xfrm>
            <a:prstGeom prst="rect">
              <a:avLst/>
            </a:prstGeom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EE6A9C9-C984-D5F7-A43B-2B48FE4D4DEF}"/>
                </a:ext>
              </a:extLst>
            </p:cNvPr>
            <p:cNvSpPr txBox="1"/>
            <p:nvPr/>
          </p:nvSpPr>
          <p:spPr>
            <a:xfrm>
              <a:off x="6663066" y="4210221"/>
              <a:ext cx="1538883" cy="2908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技能特长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75F74658-678F-F603-A402-50C8496247A6}"/>
                </a:ext>
              </a:extLst>
            </p:cNvPr>
            <p:cNvSpPr txBox="1"/>
            <p:nvPr/>
          </p:nvSpPr>
          <p:spPr>
            <a:xfrm>
              <a:off x="7163203" y="3871666"/>
              <a:ext cx="538609" cy="373959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altLang="zh-CN" sz="36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+mj-ea"/>
                  <a:ea typeface="+mj-ea"/>
                </a:rPr>
                <a:t>06</a:t>
              </a:r>
              <a:endParaRPr lang="zh-CN" altLang="en-US" sz="3600" dirty="0">
                <a:solidFill>
                  <a:schemeClr val="tx2">
                    <a:lumMod val="50000"/>
                    <a:lumOff val="50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7317930" y="1078992"/>
            <a:ext cx="0" cy="5065776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2049970" y="1078992"/>
            <a:ext cx="0" cy="5065776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1979421" y="3906754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92286" y="2004060"/>
            <a:ext cx="3575685" cy="939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主要包括学生学习习近平新时代中国特色社会主义思想、践行社会主义核心价值观等，参与各类思想政治教育活动。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292286" y="3809845"/>
            <a:ext cx="2096728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02.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实践工作类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292350" y="4219575"/>
            <a:ext cx="3496945" cy="156927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主要包括学生参与全国大中专学生志愿者暑期文化科技卫生“三下乡”社会实践、新时代文明实践、个人社会实践，参与港澳台及国际交流访学，担任学生干部及其他各类实践工作经历。</a:t>
            </a:r>
          </a:p>
        </p:txBody>
      </p:sp>
      <p:sp>
        <p:nvSpPr>
          <p:cNvPr id="13" name="椭圆 12"/>
          <p:cNvSpPr/>
          <p:nvPr/>
        </p:nvSpPr>
        <p:spPr>
          <a:xfrm>
            <a:off x="7247381" y="1730052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247381" y="3906754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560246" y="1535262"/>
            <a:ext cx="2096728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03.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志愿公益类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579360" y="1945005"/>
            <a:ext cx="3732530" cy="939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主要包括学生参与西部计划、支教助残、无偿献血、社区服务、公益环保、赛会服务和海外服务等各类志愿公益活动。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560246" y="3809845"/>
            <a:ext cx="206627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04.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创新创业类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589520" y="4219575"/>
            <a:ext cx="3605530" cy="12491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主要包括学生参与各级各类创新创业活动“中国国际大学生创新大赛”“挑战杯”等创新创业竞赛</a:t>
            </a:r>
            <a:r>
              <a:rPr lang="en-US" altLang="zh-CN" sz="1600" b="0" dirty="0">
                <a:effectLst/>
                <a:latin typeface="+mn-ea"/>
              </a:rPr>
              <a:t>)</a:t>
            </a:r>
            <a:r>
              <a:rPr lang="zh-CN" altLang="en-US" sz="1600" b="0" dirty="0">
                <a:effectLst/>
                <a:latin typeface="+mn-ea"/>
              </a:rPr>
              <a:t>、课题论文、出版专著、科技发明、创立企业。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1022350" y="1480820"/>
            <a:ext cx="661670" cy="661670"/>
            <a:chOff x="1610" y="2556"/>
            <a:chExt cx="1042" cy="1042"/>
          </a:xfrm>
        </p:grpSpPr>
        <p:sp>
          <p:nvSpPr>
            <p:cNvPr id="5" name="椭圆 4"/>
            <p:cNvSpPr/>
            <p:nvPr/>
          </p:nvSpPr>
          <p:spPr>
            <a:xfrm>
              <a:off x="1610" y="2556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>
              <a:off x="1861" y="2842"/>
              <a:ext cx="539" cy="538"/>
            </a:xfrm>
            <a:custGeom>
              <a:avLst/>
              <a:gdLst>
                <a:gd name="T0" fmla="*/ 5136 w 5158"/>
                <a:gd name="T1" fmla="*/ 1919 h 5159"/>
                <a:gd name="T2" fmla="*/ 4927 w 5158"/>
                <a:gd name="T3" fmla="*/ 600 h 5159"/>
                <a:gd name="T4" fmla="*/ 4559 w 5158"/>
                <a:gd name="T5" fmla="*/ 232 h 5159"/>
                <a:gd name="T6" fmla="*/ 3240 w 5158"/>
                <a:gd name="T7" fmla="*/ 22 h 5159"/>
                <a:gd name="T8" fmla="*/ 2858 w 5158"/>
                <a:gd name="T9" fmla="*/ 147 h 5159"/>
                <a:gd name="T10" fmla="*/ 173 w 5158"/>
                <a:gd name="T11" fmla="*/ 2831 h 5159"/>
                <a:gd name="T12" fmla="*/ 173 w 5158"/>
                <a:gd name="T13" fmla="*/ 3457 h 5159"/>
                <a:gd name="T14" fmla="*/ 1701 w 5158"/>
                <a:gd name="T15" fmla="*/ 4986 h 5159"/>
                <a:gd name="T16" fmla="*/ 2327 w 5158"/>
                <a:gd name="T17" fmla="*/ 4986 h 5159"/>
                <a:gd name="T18" fmla="*/ 5012 w 5158"/>
                <a:gd name="T19" fmla="*/ 2301 h 5159"/>
                <a:gd name="T20" fmla="*/ 5136 w 5158"/>
                <a:gd name="T21" fmla="*/ 1919 h 5159"/>
                <a:gd name="T22" fmla="*/ 2212 w 5158"/>
                <a:gd name="T23" fmla="*/ 4643 h 5159"/>
                <a:gd name="T24" fmla="*/ 1968 w 5158"/>
                <a:gd name="T25" fmla="*/ 4643 h 5159"/>
                <a:gd name="T26" fmla="*/ 515 w 5158"/>
                <a:gd name="T27" fmla="*/ 3191 h 5159"/>
                <a:gd name="T28" fmla="*/ 515 w 5158"/>
                <a:gd name="T29" fmla="*/ 2946 h 5159"/>
                <a:gd name="T30" fmla="*/ 760 w 5158"/>
                <a:gd name="T31" fmla="*/ 2946 h 5159"/>
                <a:gd name="T32" fmla="*/ 2212 w 5158"/>
                <a:gd name="T33" fmla="*/ 4399 h 5159"/>
                <a:gd name="T34" fmla="*/ 2212 w 5158"/>
                <a:gd name="T35" fmla="*/ 4643 h 5159"/>
                <a:gd name="T36" fmla="*/ 4166 w 5158"/>
                <a:gd name="T37" fmla="*/ 1464 h 5159"/>
                <a:gd name="T38" fmla="*/ 3695 w 5158"/>
                <a:gd name="T39" fmla="*/ 1464 h 5159"/>
                <a:gd name="T40" fmla="*/ 3695 w 5158"/>
                <a:gd name="T41" fmla="*/ 993 h 5159"/>
                <a:gd name="T42" fmla="*/ 4166 w 5158"/>
                <a:gd name="T43" fmla="*/ 993 h 5159"/>
                <a:gd name="T44" fmla="*/ 4166 w 5158"/>
                <a:gd name="T45" fmla="*/ 1464 h 5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158" h="5159">
                  <a:moveTo>
                    <a:pt x="5136" y="1919"/>
                  </a:moveTo>
                  <a:lnTo>
                    <a:pt x="4927" y="600"/>
                  </a:lnTo>
                  <a:cubicBezTo>
                    <a:pt x="4897" y="411"/>
                    <a:pt x="4748" y="262"/>
                    <a:pt x="4559" y="232"/>
                  </a:cubicBezTo>
                  <a:lnTo>
                    <a:pt x="3240" y="22"/>
                  </a:lnTo>
                  <a:cubicBezTo>
                    <a:pt x="3100" y="0"/>
                    <a:pt x="2958" y="46"/>
                    <a:pt x="2858" y="147"/>
                  </a:cubicBezTo>
                  <a:lnTo>
                    <a:pt x="173" y="2831"/>
                  </a:lnTo>
                  <a:cubicBezTo>
                    <a:pt x="0" y="3004"/>
                    <a:pt x="0" y="3285"/>
                    <a:pt x="173" y="3457"/>
                  </a:cubicBezTo>
                  <a:lnTo>
                    <a:pt x="1701" y="4986"/>
                  </a:lnTo>
                  <a:cubicBezTo>
                    <a:pt x="1874" y="5159"/>
                    <a:pt x="2154" y="5159"/>
                    <a:pt x="2327" y="4986"/>
                  </a:cubicBezTo>
                  <a:lnTo>
                    <a:pt x="5012" y="2301"/>
                  </a:lnTo>
                  <a:cubicBezTo>
                    <a:pt x="5112" y="2201"/>
                    <a:pt x="5158" y="2059"/>
                    <a:pt x="5136" y="1919"/>
                  </a:cubicBezTo>
                  <a:close/>
                  <a:moveTo>
                    <a:pt x="2212" y="4643"/>
                  </a:moveTo>
                  <a:cubicBezTo>
                    <a:pt x="2145" y="4711"/>
                    <a:pt x="2035" y="4711"/>
                    <a:pt x="1968" y="4643"/>
                  </a:cubicBezTo>
                  <a:lnTo>
                    <a:pt x="515" y="3191"/>
                  </a:lnTo>
                  <a:cubicBezTo>
                    <a:pt x="448" y="3124"/>
                    <a:pt x="448" y="3014"/>
                    <a:pt x="515" y="2946"/>
                  </a:cubicBezTo>
                  <a:cubicBezTo>
                    <a:pt x="583" y="2879"/>
                    <a:pt x="692" y="2879"/>
                    <a:pt x="760" y="2946"/>
                  </a:cubicBezTo>
                  <a:lnTo>
                    <a:pt x="2212" y="4399"/>
                  </a:lnTo>
                  <a:cubicBezTo>
                    <a:pt x="2280" y="4466"/>
                    <a:pt x="2280" y="4576"/>
                    <a:pt x="2212" y="4643"/>
                  </a:cubicBezTo>
                  <a:close/>
                  <a:moveTo>
                    <a:pt x="4166" y="1464"/>
                  </a:moveTo>
                  <a:cubicBezTo>
                    <a:pt x="4036" y="1594"/>
                    <a:pt x="3825" y="1594"/>
                    <a:pt x="3695" y="1464"/>
                  </a:cubicBezTo>
                  <a:cubicBezTo>
                    <a:pt x="3565" y="1334"/>
                    <a:pt x="3565" y="1123"/>
                    <a:pt x="3695" y="993"/>
                  </a:cubicBezTo>
                  <a:cubicBezTo>
                    <a:pt x="3825" y="862"/>
                    <a:pt x="4036" y="862"/>
                    <a:pt x="4166" y="993"/>
                  </a:cubicBezTo>
                  <a:cubicBezTo>
                    <a:pt x="4296" y="1123"/>
                    <a:pt x="4296" y="1334"/>
                    <a:pt x="4166" y="14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en-US" sz="160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013460" y="3661410"/>
            <a:ext cx="661670" cy="661670"/>
            <a:chOff x="1610" y="6068"/>
            <a:chExt cx="1042" cy="1042"/>
          </a:xfrm>
        </p:grpSpPr>
        <p:sp>
          <p:nvSpPr>
            <p:cNvPr id="6" name="椭圆 5"/>
            <p:cNvSpPr/>
            <p:nvPr/>
          </p:nvSpPr>
          <p:spPr>
            <a:xfrm>
              <a:off x="1610" y="6068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6" name="任意多边形: 形状 25"/>
            <p:cNvSpPr/>
            <p:nvPr/>
          </p:nvSpPr>
          <p:spPr>
            <a:xfrm>
              <a:off x="1861" y="6321"/>
              <a:ext cx="539" cy="538"/>
            </a:xfrm>
            <a:custGeom>
              <a:avLst/>
              <a:gdLst>
                <a:gd name="T0" fmla="*/ 370 w 413"/>
                <a:gd name="T1" fmla="*/ 139 h 413"/>
                <a:gd name="T2" fmla="*/ 353 w 413"/>
                <a:gd name="T3" fmla="*/ 61 h 413"/>
                <a:gd name="T4" fmla="*/ 274 w 413"/>
                <a:gd name="T5" fmla="*/ 43 h 413"/>
                <a:gd name="T6" fmla="*/ 207 w 413"/>
                <a:gd name="T7" fmla="*/ 0 h 413"/>
                <a:gd name="T8" fmla="*/ 139 w 413"/>
                <a:gd name="T9" fmla="*/ 43 h 413"/>
                <a:gd name="T10" fmla="*/ 43 w 413"/>
                <a:gd name="T11" fmla="*/ 103 h 413"/>
                <a:gd name="T12" fmla="*/ 18 w 413"/>
                <a:gd name="T13" fmla="*/ 164 h 413"/>
                <a:gd name="T14" fmla="*/ 18 w 413"/>
                <a:gd name="T15" fmla="*/ 249 h 413"/>
                <a:gd name="T16" fmla="*/ 43 w 413"/>
                <a:gd name="T17" fmla="*/ 310 h 413"/>
                <a:gd name="T18" fmla="*/ 103 w 413"/>
                <a:gd name="T19" fmla="*/ 370 h 413"/>
                <a:gd name="T20" fmla="*/ 164 w 413"/>
                <a:gd name="T21" fmla="*/ 396 h 413"/>
                <a:gd name="T22" fmla="*/ 249 w 413"/>
                <a:gd name="T23" fmla="*/ 396 h 413"/>
                <a:gd name="T24" fmla="*/ 310 w 413"/>
                <a:gd name="T25" fmla="*/ 370 h 413"/>
                <a:gd name="T26" fmla="*/ 370 w 413"/>
                <a:gd name="T27" fmla="*/ 274 h 413"/>
                <a:gd name="T28" fmla="*/ 413 w 413"/>
                <a:gd name="T29" fmla="*/ 207 h 413"/>
                <a:gd name="T30" fmla="*/ 146 w 413"/>
                <a:gd name="T31" fmla="*/ 261 h 413"/>
                <a:gd name="T32" fmla="*/ 104 w 413"/>
                <a:gd name="T33" fmla="*/ 225 h 413"/>
                <a:gd name="T34" fmla="*/ 88 w 413"/>
                <a:gd name="T35" fmla="*/ 192 h 413"/>
                <a:gd name="T36" fmla="*/ 89 w 413"/>
                <a:gd name="T37" fmla="*/ 261 h 413"/>
                <a:gd name="T38" fmla="*/ 69 w 413"/>
                <a:gd name="T39" fmla="*/ 167 h 413"/>
                <a:gd name="T40" fmla="*/ 113 w 413"/>
                <a:gd name="T41" fmla="*/ 201 h 413"/>
                <a:gd name="T42" fmla="*/ 129 w 413"/>
                <a:gd name="T43" fmla="*/ 233 h 413"/>
                <a:gd name="T44" fmla="*/ 127 w 413"/>
                <a:gd name="T45" fmla="*/ 167 h 413"/>
                <a:gd name="T46" fmla="*/ 146 w 413"/>
                <a:gd name="T47" fmla="*/ 261 h 413"/>
                <a:gd name="T48" fmla="*/ 224 w 413"/>
                <a:gd name="T49" fmla="*/ 261 h 413"/>
                <a:gd name="T50" fmla="*/ 165 w 413"/>
                <a:gd name="T51" fmla="*/ 167 h 413"/>
                <a:gd name="T52" fmla="*/ 222 w 413"/>
                <a:gd name="T53" fmla="*/ 185 h 413"/>
                <a:gd name="T54" fmla="*/ 186 w 413"/>
                <a:gd name="T55" fmla="*/ 204 h 413"/>
                <a:gd name="T56" fmla="*/ 220 w 413"/>
                <a:gd name="T57" fmla="*/ 221 h 413"/>
                <a:gd name="T58" fmla="*/ 186 w 413"/>
                <a:gd name="T59" fmla="*/ 243 h 413"/>
                <a:gd name="T60" fmla="*/ 224 w 413"/>
                <a:gd name="T61" fmla="*/ 261 h 413"/>
                <a:gd name="T62" fmla="*/ 327 w 413"/>
                <a:gd name="T63" fmla="*/ 261 h 413"/>
                <a:gd name="T64" fmla="*/ 297 w 413"/>
                <a:gd name="T65" fmla="*/ 220 h 413"/>
                <a:gd name="T66" fmla="*/ 292 w 413"/>
                <a:gd name="T67" fmla="*/ 192 h 413"/>
                <a:gd name="T68" fmla="*/ 278 w 413"/>
                <a:gd name="T69" fmla="*/ 261 h 413"/>
                <a:gd name="T70" fmla="*/ 232 w 413"/>
                <a:gd name="T71" fmla="*/ 167 h 413"/>
                <a:gd name="T72" fmla="*/ 262 w 413"/>
                <a:gd name="T73" fmla="*/ 206 h 413"/>
                <a:gd name="T74" fmla="*/ 268 w 413"/>
                <a:gd name="T75" fmla="*/ 238 h 413"/>
                <a:gd name="T76" fmla="*/ 282 w 413"/>
                <a:gd name="T77" fmla="*/ 167 h 413"/>
                <a:gd name="T78" fmla="*/ 312 w 413"/>
                <a:gd name="T79" fmla="*/ 207 h 413"/>
                <a:gd name="T80" fmla="*/ 317 w 413"/>
                <a:gd name="T81" fmla="*/ 238 h 413"/>
                <a:gd name="T82" fmla="*/ 330 w 413"/>
                <a:gd name="T83" fmla="*/ 167 h 413"/>
                <a:gd name="T84" fmla="*/ 327 w 413"/>
                <a:gd name="T85" fmla="*/ 261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13" h="413">
                  <a:moveTo>
                    <a:pt x="396" y="164"/>
                  </a:moveTo>
                  <a:lnTo>
                    <a:pt x="370" y="139"/>
                  </a:lnTo>
                  <a:lnTo>
                    <a:pt x="370" y="103"/>
                  </a:lnTo>
                  <a:cubicBezTo>
                    <a:pt x="370" y="87"/>
                    <a:pt x="364" y="72"/>
                    <a:pt x="353" y="61"/>
                  </a:cubicBezTo>
                  <a:cubicBezTo>
                    <a:pt x="341" y="49"/>
                    <a:pt x="326" y="43"/>
                    <a:pt x="310" y="43"/>
                  </a:cubicBezTo>
                  <a:lnTo>
                    <a:pt x="274" y="43"/>
                  </a:lnTo>
                  <a:lnTo>
                    <a:pt x="249" y="18"/>
                  </a:lnTo>
                  <a:cubicBezTo>
                    <a:pt x="238" y="6"/>
                    <a:pt x="223" y="0"/>
                    <a:pt x="207" y="0"/>
                  </a:cubicBezTo>
                  <a:cubicBezTo>
                    <a:pt x="191" y="0"/>
                    <a:pt x="176" y="6"/>
                    <a:pt x="164" y="18"/>
                  </a:cubicBezTo>
                  <a:lnTo>
                    <a:pt x="139" y="43"/>
                  </a:lnTo>
                  <a:lnTo>
                    <a:pt x="103" y="43"/>
                  </a:lnTo>
                  <a:cubicBezTo>
                    <a:pt x="70" y="43"/>
                    <a:pt x="43" y="70"/>
                    <a:pt x="43" y="103"/>
                  </a:cubicBezTo>
                  <a:lnTo>
                    <a:pt x="43" y="139"/>
                  </a:lnTo>
                  <a:lnTo>
                    <a:pt x="18" y="164"/>
                  </a:lnTo>
                  <a:cubicBezTo>
                    <a:pt x="6" y="176"/>
                    <a:pt x="0" y="191"/>
                    <a:pt x="0" y="207"/>
                  </a:cubicBezTo>
                  <a:cubicBezTo>
                    <a:pt x="0" y="223"/>
                    <a:pt x="6" y="238"/>
                    <a:pt x="18" y="249"/>
                  </a:cubicBezTo>
                  <a:lnTo>
                    <a:pt x="43" y="274"/>
                  </a:lnTo>
                  <a:lnTo>
                    <a:pt x="43" y="310"/>
                  </a:lnTo>
                  <a:cubicBezTo>
                    <a:pt x="43" y="326"/>
                    <a:pt x="49" y="341"/>
                    <a:pt x="61" y="353"/>
                  </a:cubicBezTo>
                  <a:cubicBezTo>
                    <a:pt x="72" y="364"/>
                    <a:pt x="87" y="370"/>
                    <a:pt x="103" y="370"/>
                  </a:cubicBezTo>
                  <a:lnTo>
                    <a:pt x="139" y="370"/>
                  </a:lnTo>
                  <a:lnTo>
                    <a:pt x="164" y="396"/>
                  </a:lnTo>
                  <a:cubicBezTo>
                    <a:pt x="176" y="407"/>
                    <a:pt x="191" y="413"/>
                    <a:pt x="207" y="413"/>
                  </a:cubicBezTo>
                  <a:cubicBezTo>
                    <a:pt x="223" y="413"/>
                    <a:pt x="238" y="407"/>
                    <a:pt x="249" y="396"/>
                  </a:cubicBezTo>
                  <a:lnTo>
                    <a:pt x="274" y="370"/>
                  </a:lnTo>
                  <a:lnTo>
                    <a:pt x="310" y="370"/>
                  </a:lnTo>
                  <a:cubicBezTo>
                    <a:pt x="343" y="370"/>
                    <a:pt x="370" y="343"/>
                    <a:pt x="370" y="310"/>
                  </a:cubicBezTo>
                  <a:lnTo>
                    <a:pt x="370" y="274"/>
                  </a:lnTo>
                  <a:lnTo>
                    <a:pt x="396" y="249"/>
                  </a:lnTo>
                  <a:cubicBezTo>
                    <a:pt x="407" y="238"/>
                    <a:pt x="413" y="223"/>
                    <a:pt x="413" y="207"/>
                  </a:cubicBezTo>
                  <a:cubicBezTo>
                    <a:pt x="413" y="191"/>
                    <a:pt x="407" y="176"/>
                    <a:pt x="396" y="164"/>
                  </a:cubicBezTo>
                  <a:close/>
                  <a:moveTo>
                    <a:pt x="146" y="261"/>
                  </a:moveTo>
                  <a:lnTo>
                    <a:pt x="124" y="261"/>
                  </a:lnTo>
                  <a:lnTo>
                    <a:pt x="104" y="225"/>
                  </a:lnTo>
                  <a:cubicBezTo>
                    <a:pt x="99" y="215"/>
                    <a:pt x="93" y="203"/>
                    <a:pt x="88" y="192"/>
                  </a:cubicBezTo>
                  <a:lnTo>
                    <a:pt x="88" y="192"/>
                  </a:lnTo>
                  <a:cubicBezTo>
                    <a:pt x="88" y="204"/>
                    <a:pt x="89" y="217"/>
                    <a:pt x="89" y="232"/>
                  </a:cubicBezTo>
                  <a:lnTo>
                    <a:pt x="89" y="261"/>
                  </a:lnTo>
                  <a:lnTo>
                    <a:pt x="69" y="261"/>
                  </a:lnTo>
                  <a:lnTo>
                    <a:pt x="69" y="167"/>
                  </a:lnTo>
                  <a:lnTo>
                    <a:pt x="94" y="167"/>
                  </a:lnTo>
                  <a:lnTo>
                    <a:pt x="113" y="201"/>
                  </a:lnTo>
                  <a:cubicBezTo>
                    <a:pt x="119" y="211"/>
                    <a:pt x="124" y="223"/>
                    <a:pt x="128" y="233"/>
                  </a:cubicBezTo>
                  <a:lnTo>
                    <a:pt x="129" y="233"/>
                  </a:lnTo>
                  <a:cubicBezTo>
                    <a:pt x="128" y="221"/>
                    <a:pt x="127" y="209"/>
                    <a:pt x="127" y="195"/>
                  </a:cubicBezTo>
                  <a:lnTo>
                    <a:pt x="127" y="167"/>
                  </a:lnTo>
                  <a:lnTo>
                    <a:pt x="146" y="167"/>
                  </a:lnTo>
                  <a:lnTo>
                    <a:pt x="146" y="261"/>
                  </a:lnTo>
                  <a:lnTo>
                    <a:pt x="146" y="261"/>
                  </a:lnTo>
                  <a:close/>
                  <a:moveTo>
                    <a:pt x="224" y="261"/>
                  </a:moveTo>
                  <a:lnTo>
                    <a:pt x="165" y="261"/>
                  </a:lnTo>
                  <a:lnTo>
                    <a:pt x="165" y="167"/>
                  </a:lnTo>
                  <a:lnTo>
                    <a:pt x="222" y="167"/>
                  </a:lnTo>
                  <a:lnTo>
                    <a:pt x="222" y="185"/>
                  </a:lnTo>
                  <a:lnTo>
                    <a:pt x="186" y="185"/>
                  </a:lnTo>
                  <a:lnTo>
                    <a:pt x="186" y="204"/>
                  </a:lnTo>
                  <a:lnTo>
                    <a:pt x="220" y="204"/>
                  </a:lnTo>
                  <a:lnTo>
                    <a:pt x="220" y="221"/>
                  </a:lnTo>
                  <a:lnTo>
                    <a:pt x="186" y="221"/>
                  </a:lnTo>
                  <a:lnTo>
                    <a:pt x="186" y="243"/>
                  </a:lnTo>
                  <a:lnTo>
                    <a:pt x="224" y="243"/>
                  </a:lnTo>
                  <a:lnTo>
                    <a:pt x="224" y="261"/>
                  </a:lnTo>
                  <a:lnTo>
                    <a:pt x="224" y="261"/>
                  </a:lnTo>
                  <a:close/>
                  <a:moveTo>
                    <a:pt x="327" y="261"/>
                  </a:moveTo>
                  <a:lnTo>
                    <a:pt x="305" y="261"/>
                  </a:lnTo>
                  <a:lnTo>
                    <a:pt x="297" y="220"/>
                  </a:lnTo>
                  <a:cubicBezTo>
                    <a:pt x="295" y="211"/>
                    <a:pt x="293" y="202"/>
                    <a:pt x="292" y="192"/>
                  </a:cubicBezTo>
                  <a:lnTo>
                    <a:pt x="292" y="192"/>
                  </a:lnTo>
                  <a:cubicBezTo>
                    <a:pt x="290" y="202"/>
                    <a:pt x="289" y="211"/>
                    <a:pt x="287" y="220"/>
                  </a:cubicBezTo>
                  <a:lnTo>
                    <a:pt x="278" y="261"/>
                  </a:lnTo>
                  <a:lnTo>
                    <a:pt x="255" y="261"/>
                  </a:lnTo>
                  <a:lnTo>
                    <a:pt x="232" y="167"/>
                  </a:lnTo>
                  <a:lnTo>
                    <a:pt x="255" y="167"/>
                  </a:lnTo>
                  <a:lnTo>
                    <a:pt x="262" y="206"/>
                  </a:lnTo>
                  <a:cubicBezTo>
                    <a:pt x="264" y="217"/>
                    <a:pt x="266" y="229"/>
                    <a:pt x="268" y="238"/>
                  </a:cubicBezTo>
                  <a:lnTo>
                    <a:pt x="268" y="238"/>
                  </a:lnTo>
                  <a:cubicBezTo>
                    <a:pt x="269" y="228"/>
                    <a:pt x="272" y="217"/>
                    <a:pt x="274" y="206"/>
                  </a:cubicBezTo>
                  <a:lnTo>
                    <a:pt x="282" y="167"/>
                  </a:lnTo>
                  <a:lnTo>
                    <a:pt x="304" y="167"/>
                  </a:lnTo>
                  <a:lnTo>
                    <a:pt x="312" y="207"/>
                  </a:lnTo>
                  <a:cubicBezTo>
                    <a:pt x="314" y="218"/>
                    <a:pt x="315" y="228"/>
                    <a:pt x="317" y="238"/>
                  </a:cubicBezTo>
                  <a:lnTo>
                    <a:pt x="317" y="238"/>
                  </a:lnTo>
                  <a:cubicBezTo>
                    <a:pt x="318" y="228"/>
                    <a:pt x="320" y="217"/>
                    <a:pt x="322" y="206"/>
                  </a:cubicBezTo>
                  <a:lnTo>
                    <a:pt x="330" y="167"/>
                  </a:lnTo>
                  <a:lnTo>
                    <a:pt x="351" y="167"/>
                  </a:lnTo>
                  <a:lnTo>
                    <a:pt x="327" y="26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290310" y="3663950"/>
            <a:ext cx="661670" cy="661670"/>
            <a:chOff x="9906" y="6079"/>
            <a:chExt cx="1042" cy="1042"/>
          </a:xfrm>
        </p:grpSpPr>
        <p:sp>
          <p:nvSpPr>
            <p:cNvPr id="17" name="椭圆 16"/>
            <p:cNvSpPr/>
            <p:nvPr/>
          </p:nvSpPr>
          <p:spPr>
            <a:xfrm>
              <a:off x="9906" y="6079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10163" y="6331"/>
              <a:ext cx="527" cy="539"/>
            </a:xfrm>
            <a:custGeom>
              <a:avLst/>
              <a:gdLst>
                <a:gd name="connsiteX0" fmla="*/ 47370 w 595290"/>
                <a:gd name="connsiteY0" fmla="*/ 369974 h 607921"/>
                <a:gd name="connsiteX1" fmla="*/ 48020 w 595290"/>
                <a:gd name="connsiteY1" fmla="*/ 369974 h 607921"/>
                <a:gd name="connsiteX2" fmla="*/ 96040 w 595290"/>
                <a:gd name="connsiteY2" fmla="*/ 417923 h 607921"/>
                <a:gd name="connsiteX3" fmla="*/ 48020 w 595290"/>
                <a:gd name="connsiteY3" fmla="*/ 465872 h 607921"/>
                <a:gd name="connsiteX4" fmla="*/ 47370 w 595290"/>
                <a:gd name="connsiteY4" fmla="*/ 465872 h 607921"/>
                <a:gd name="connsiteX5" fmla="*/ 37366 w 595290"/>
                <a:gd name="connsiteY5" fmla="*/ 464673 h 607921"/>
                <a:gd name="connsiteX6" fmla="*/ 27361 w 595290"/>
                <a:gd name="connsiteY6" fmla="*/ 461177 h 607921"/>
                <a:gd name="connsiteX7" fmla="*/ 0 w 595290"/>
                <a:gd name="connsiteY7" fmla="*/ 417923 h 607921"/>
                <a:gd name="connsiteX8" fmla="*/ 27361 w 595290"/>
                <a:gd name="connsiteY8" fmla="*/ 374619 h 607921"/>
                <a:gd name="connsiteX9" fmla="*/ 37366 w 595290"/>
                <a:gd name="connsiteY9" fmla="*/ 371173 h 607921"/>
                <a:gd name="connsiteX10" fmla="*/ 47370 w 595290"/>
                <a:gd name="connsiteY10" fmla="*/ 369974 h 607921"/>
                <a:gd name="connsiteX11" fmla="*/ 547270 w 595290"/>
                <a:gd name="connsiteY11" fmla="*/ 369833 h 607921"/>
                <a:gd name="connsiteX12" fmla="*/ 557274 w 595290"/>
                <a:gd name="connsiteY12" fmla="*/ 370882 h 607921"/>
                <a:gd name="connsiteX13" fmla="*/ 567278 w 595290"/>
                <a:gd name="connsiteY13" fmla="*/ 374228 h 607921"/>
                <a:gd name="connsiteX14" fmla="*/ 595290 w 595290"/>
                <a:gd name="connsiteY14" fmla="*/ 417828 h 607921"/>
                <a:gd name="connsiteX15" fmla="*/ 567278 w 595290"/>
                <a:gd name="connsiteY15" fmla="*/ 461478 h 607921"/>
                <a:gd name="connsiteX16" fmla="*/ 557274 w 595290"/>
                <a:gd name="connsiteY16" fmla="*/ 464774 h 607921"/>
                <a:gd name="connsiteX17" fmla="*/ 547270 w 595290"/>
                <a:gd name="connsiteY17" fmla="*/ 465873 h 607921"/>
                <a:gd name="connsiteX18" fmla="*/ 499250 w 595290"/>
                <a:gd name="connsiteY18" fmla="*/ 417928 h 607921"/>
                <a:gd name="connsiteX19" fmla="*/ 547270 w 595290"/>
                <a:gd name="connsiteY19" fmla="*/ 369833 h 607921"/>
                <a:gd name="connsiteX20" fmla="*/ 172366 w 595290"/>
                <a:gd name="connsiteY20" fmla="*/ 284449 h 607921"/>
                <a:gd name="connsiteX21" fmla="*/ 297363 w 595290"/>
                <a:gd name="connsiteY21" fmla="*/ 306124 h 607921"/>
                <a:gd name="connsiteX22" fmla="*/ 422360 w 595290"/>
                <a:gd name="connsiteY22" fmla="*/ 284449 h 607921"/>
                <a:gd name="connsiteX23" fmla="*/ 535652 w 595290"/>
                <a:gd name="connsiteY23" fmla="*/ 302128 h 607921"/>
                <a:gd name="connsiteX24" fmla="*/ 547306 w 595290"/>
                <a:gd name="connsiteY24" fmla="*/ 318010 h 607921"/>
                <a:gd name="connsiteX25" fmla="*/ 547306 w 595290"/>
                <a:gd name="connsiteY25" fmla="*/ 345977 h 607921"/>
                <a:gd name="connsiteX26" fmla="*/ 496387 w 595290"/>
                <a:gd name="connsiteY26" fmla="*/ 367002 h 607921"/>
                <a:gd name="connsiteX27" fmla="*/ 475279 w 595290"/>
                <a:gd name="connsiteY27" fmla="*/ 417893 h 607921"/>
                <a:gd name="connsiteX28" fmla="*/ 496387 w 595290"/>
                <a:gd name="connsiteY28" fmla="*/ 468734 h 607921"/>
                <a:gd name="connsiteX29" fmla="*/ 547306 w 595290"/>
                <a:gd name="connsiteY29" fmla="*/ 489809 h 607921"/>
                <a:gd name="connsiteX30" fmla="*/ 547306 w 595290"/>
                <a:gd name="connsiteY30" fmla="*/ 586197 h 607921"/>
                <a:gd name="connsiteX31" fmla="*/ 530700 w 595290"/>
                <a:gd name="connsiteY31" fmla="*/ 602877 h 607921"/>
                <a:gd name="connsiteX32" fmla="*/ 527299 w 595290"/>
                <a:gd name="connsiteY32" fmla="*/ 602527 h 607921"/>
                <a:gd name="connsiteX33" fmla="*/ 422360 w 595290"/>
                <a:gd name="connsiteY33" fmla="*/ 594087 h 607921"/>
                <a:gd name="connsiteX34" fmla="*/ 297363 w 595290"/>
                <a:gd name="connsiteY34" fmla="*/ 607921 h 607921"/>
                <a:gd name="connsiteX35" fmla="*/ 172366 w 595290"/>
                <a:gd name="connsiteY35" fmla="*/ 594087 h 607921"/>
                <a:gd name="connsiteX36" fmla="*/ 67427 w 595290"/>
                <a:gd name="connsiteY36" fmla="*/ 602527 h 607921"/>
                <a:gd name="connsiteX37" fmla="*/ 64026 w 595290"/>
                <a:gd name="connsiteY37" fmla="*/ 602877 h 607921"/>
                <a:gd name="connsiteX38" fmla="*/ 47420 w 595290"/>
                <a:gd name="connsiteY38" fmla="*/ 586197 h 607921"/>
                <a:gd name="connsiteX39" fmla="*/ 47420 w 595290"/>
                <a:gd name="connsiteY39" fmla="*/ 489809 h 607921"/>
                <a:gd name="connsiteX40" fmla="*/ 48070 w 595290"/>
                <a:gd name="connsiteY40" fmla="*/ 489809 h 607921"/>
                <a:gd name="connsiteX41" fmla="*/ 99039 w 595290"/>
                <a:gd name="connsiteY41" fmla="*/ 468734 h 607921"/>
                <a:gd name="connsiteX42" fmla="*/ 120097 w 595290"/>
                <a:gd name="connsiteY42" fmla="*/ 417893 h 607921"/>
                <a:gd name="connsiteX43" fmla="*/ 99039 w 595290"/>
                <a:gd name="connsiteY43" fmla="*/ 367002 h 607921"/>
                <a:gd name="connsiteX44" fmla="*/ 48070 w 595290"/>
                <a:gd name="connsiteY44" fmla="*/ 345977 h 607921"/>
                <a:gd name="connsiteX45" fmla="*/ 47420 w 595290"/>
                <a:gd name="connsiteY45" fmla="*/ 345977 h 607921"/>
                <a:gd name="connsiteX46" fmla="*/ 47420 w 595290"/>
                <a:gd name="connsiteY46" fmla="*/ 318010 h 607921"/>
                <a:gd name="connsiteX47" fmla="*/ 59074 w 595290"/>
                <a:gd name="connsiteY47" fmla="*/ 302128 h 607921"/>
                <a:gd name="connsiteX48" fmla="*/ 172366 w 595290"/>
                <a:gd name="connsiteY48" fmla="*/ 284449 h 607921"/>
                <a:gd name="connsiteX49" fmla="*/ 297363 w 595290"/>
                <a:gd name="connsiteY49" fmla="*/ 0 h 607921"/>
                <a:gd name="connsiteX50" fmla="*/ 432355 w 595290"/>
                <a:gd name="connsiteY50" fmla="*/ 134780 h 607921"/>
                <a:gd name="connsiteX51" fmla="*/ 297363 w 595290"/>
                <a:gd name="connsiteY51" fmla="*/ 269560 h 607921"/>
                <a:gd name="connsiteX52" fmla="*/ 162371 w 595290"/>
                <a:gd name="connsiteY52" fmla="*/ 134780 h 607921"/>
                <a:gd name="connsiteX53" fmla="*/ 297363 w 595290"/>
                <a:gd name="connsiteY53" fmla="*/ 0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95290" h="607921">
                  <a:moveTo>
                    <a:pt x="47370" y="369974"/>
                  </a:moveTo>
                  <a:lnTo>
                    <a:pt x="48020" y="369974"/>
                  </a:lnTo>
                  <a:cubicBezTo>
                    <a:pt x="74581" y="369974"/>
                    <a:pt x="96040" y="391401"/>
                    <a:pt x="96040" y="417923"/>
                  </a:cubicBezTo>
                  <a:cubicBezTo>
                    <a:pt x="96040" y="444395"/>
                    <a:pt x="74581" y="465872"/>
                    <a:pt x="48020" y="465872"/>
                  </a:cubicBezTo>
                  <a:lnTo>
                    <a:pt x="47370" y="465872"/>
                  </a:lnTo>
                  <a:cubicBezTo>
                    <a:pt x="43968" y="465772"/>
                    <a:pt x="40567" y="465373"/>
                    <a:pt x="37366" y="464673"/>
                  </a:cubicBezTo>
                  <a:cubicBezTo>
                    <a:pt x="33864" y="463874"/>
                    <a:pt x="30463" y="462725"/>
                    <a:pt x="27361" y="461177"/>
                  </a:cubicBezTo>
                  <a:cubicBezTo>
                    <a:pt x="11205" y="453485"/>
                    <a:pt x="0" y="437003"/>
                    <a:pt x="0" y="417923"/>
                  </a:cubicBezTo>
                  <a:cubicBezTo>
                    <a:pt x="0" y="398793"/>
                    <a:pt x="11155" y="382361"/>
                    <a:pt x="27361" y="374619"/>
                  </a:cubicBezTo>
                  <a:cubicBezTo>
                    <a:pt x="30463" y="373071"/>
                    <a:pt x="33864" y="371972"/>
                    <a:pt x="37366" y="371173"/>
                  </a:cubicBezTo>
                  <a:cubicBezTo>
                    <a:pt x="40617" y="370424"/>
                    <a:pt x="43968" y="370024"/>
                    <a:pt x="47370" y="369974"/>
                  </a:cubicBezTo>
                  <a:close/>
                  <a:moveTo>
                    <a:pt x="547270" y="369833"/>
                  </a:moveTo>
                  <a:cubicBezTo>
                    <a:pt x="550671" y="369833"/>
                    <a:pt x="554073" y="370233"/>
                    <a:pt x="557274" y="370882"/>
                  </a:cubicBezTo>
                  <a:cubicBezTo>
                    <a:pt x="560726" y="371631"/>
                    <a:pt x="564127" y="372780"/>
                    <a:pt x="567278" y="374228"/>
                  </a:cubicBezTo>
                  <a:cubicBezTo>
                    <a:pt x="583835" y="381819"/>
                    <a:pt x="595290" y="398450"/>
                    <a:pt x="595290" y="417828"/>
                  </a:cubicBezTo>
                  <a:cubicBezTo>
                    <a:pt x="595290" y="437206"/>
                    <a:pt x="583835" y="453887"/>
                    <a:pt x="567278" y="461478"/>
                  </a:cubicBezTo>
                  <a:cubicBezTo>
                    <a:pt x="564127" y="462927"/>
                    <a:pt x="560726" y="464075"/>
                    <a:pt x="557274" y="464774"/>
                  </a:cubicBezTo>
                  <a:cubicBezTo>
                    <a:pt x="554073" y="465524"/>
                    <a:pt x="550671" y="465873"/>
                    <a:pt x="547270" y="465873"/>
                  </a:cubicBezTo>
                  <a:cubicBezTo>
                    <a:pt x="520709" y="465873"/>
                    <a:pt x="499250" y="444398"/>
                    <a:pt x="499250" y="417928"/>
                  </a:cubicBezTo>
                  <a:cubicBezTo>
                    <a:pt x="499250" y="391458"/>
                    <a:pt x="520709" y="369983"/>
                    <a:pt x="547270" y="369833"/>
                  </a:cubicBezTo>
                  <a:close/>
                  <a:moveTo>
                    <a:pt x="172366" y="284449"/>
                  </a:moveTo>
                  <a:cubicBezTo>
                    <a:pt x="241392" y="284449"/>
                    <a:pt x="297363" y="306124"/>
                    <a:pt x="297363" y="306124"/>
                  </a:cubicBezTo>
                  <a:cubicBezTo>
                    <a:pt x="297363" y="306124"/>
                    <a:pt x="353334" y="284449"/>
                    <a:pt x="422360" y="284449"/>
                  </a:cubicBezTo>
                  <a:cubicBezTo>
                    <a:pt x="472478" y="284449"/>
                    <a:pt x="515794" y="295886"/>
                    <a:pt x="535652" y="302128"/>
                  </a:cubicBezTo>
                  <a:cubicBezTo>
                    <a:pt x="542604" y="304276"/>
                    <a:pt x="547306" y="310718"/>
                    <a:pt x="547306" y="318010"/>
                  </a:cubicBezTo>
                  <a:lnTo>
                    <a:pt x="547306" y="345977"/>
                  </a:lnTo>
                  <a:cubicBezTo>
                    <a:pt x="528049" y="345977"/>
                    <a:pt x="509992" y="353418"/>
                    <a:pt x="496387" y="367002"/>
                  </a:cubicBezTo>
                  <a:cubicBezTo>
                    <a:pt x="482782" y="380587"/>
                    <a:pt x="475279" y="398716"/>
                    <a:pt x="475279" y="417893"/>
                  </a:cubicBezTo>
                  <a:cubicBezTo>
                    <a:pt x="475279" y="437121"/>
                    <a:pt x="482782" y="455150"/>
                    <a:pt x="496387" y="468734"/>
                  </a:cubicBezTo>
                  <a:cubicBezTo>
                    <a:pt x="509992" y="482318"/>
                    <a:pt x="528099" y="489809"/>
                    <a:pt x="547306" y="489809"/>
                  </a:cubicBezTo>
                  <a:lnTo>
                    <a:pt x="547306" y="586197"/>
                  </a:lnTo>
                  <a:cubicBezTo>
                    <a:pt x="547306" y="595586"/>
                    <a:pt x="539703" y="602877"/>
                    <a:pt x="530700" y="602877"/>
                  </a:cubicBezTo>
                  <a:cubicBezTo>
                    <a:pt x="529599" y="602877"/>
                    <a:pt x="528449" y="602727"/>
                    <a:pt x="527299" y="602527"/>
                  </a:cubicBezTo>
                  <a:cubicBezTo>
                    <a:pt x="502039" y="597334"/>
                    <a:pt x="464425" y="594087"/>
                    <a:pt x="422360" y="594087"/>
                  </a:cubicBezTo>
                  <a:cubicBezTo>
                    <a:pt x="366939" y="594087"/>
                    <a:pt x="319171" y="599731"/>
                    <a:pt x="297363" y="607921"/>
                  </a:cubicBezTo>
                  <a:cubicBezTo>
                    <a:pt x="275505" y="599731"/>
                    <a:pt x="227737" y="594087"/>
                    <a:pt x="172366" y="594087"/>
                  </a:cubicBezTo>
                  <a:cubicBezTo>
                    <a:pt x="130301" y="594087"/>
                    <a:pt x="92687" y="597383"/>
                    <a:pt x="67427" y="602527"/>
                  </a:cubicBezTo>
                  <a:cubicBezTo>
                    <a:pt x="66277" y="602727"/>
                    <a:pt x="65127" y="602877"/>
                    <a:pt x="64026" y="602877"/>
                  </a:cubicBezTo>
                  <a:cubicBezTo>
                    <a:pt x="55073" y="602877"/>
                    <a:pt x="47420" y="595586"/>
                    <a:pt x="47420" y="586197"/>
                  </a:cubicBezTo>
                  <a:lnTo>
                    <a:pt x="47420" y="489809"/>
                  </a:lnTo>
                  <a:lnTo>
                    <a:pt x="48070" y="489809"/>
                  </a:lnTo>
                  <a:cubicBezTo>
                    <a:pt x="67327" y="489809"/>
                    <a:pt x="85434" y="482318"/>
                    <a:pt x="99039" y="468734"/>
                  </a:cubicBezTo>
                  <a:cubicBezTo>
                    <a:pt x="112644" y="455150"/>
                    <a:pt x="120097" y="437071"/>
                    <a:pt x="120097" y="417893"/>
                  </a:cubicBezTo>
                  <a:cubicBezTo>
                    <a:pt x="120097" y="398616"/>
                    <a:pt x="112644" y="380587"/>
                    <a:pt x="99039" y="367002"/>
                  </a:cubicBezTo>
                  <a:cubicBezTo>
                    <a:pt x="85434" y="353418"/>
                    <a:pt x="67277" y="345977"/>
                    <a:pt x="48070" y="345977"/>
                  </a:cubicBezTo>
                  <a:lnTo>
                    <a:pt x="47420" y="345977"/>
                  </a:lnTo>
                  <a:lnTo>
                    <a:pt x="47420" y="318010"/>
                  </a:lnTo>
                  <a:cubicBezTo>
                    <a:pt x="47420" y="310718"/>
                    <a:pt x="52122" y="304326"/>
                    <a:pt x="59074" y="302128"/>
                  </a:cubicBezTo>
                  <a:cubicBezTo>
                    <a:pt x="78932" y="295886"/>
                    <a:pt x="122248" y="284449"/>
                    <a:pt x="172366" y="284449"/>
                  </a:cubicBezTo>
                  <a:close/>
                  <a:moveTo>
                    <a:pt x="297363" y="0"/>
                  </a:moveTo>
                  <a:cubicBezTo>
                    <a:pt x="371917" y="0"/>
                    <a:pt x="432355" y="60343"/>
                    <a:pt x="432355" y="134780"/>
                  </a:cubicBezTo>
                  <a:cubicBezTo>
                    <a:pt x="432355" y="209217"/>
                    <a:pt x="371917" y="269560"/>
                    <a:pt x="297363" y="269560"/>
                  </a:cubicBezTo>
                  <a:cubicBezTo>
                    <a:pt x="222809" y="269560"/>
                    <a:pt x="162371" y="209217"/>
                    <a:pt x="162371" y="134780"/>
                  </a:cubicBezTo>
                  <a:cubicBezTo>
                    <a:pt x="162371" y="60343"/>
                    <a:pt x="222809" y="0"/>
                    <a:pt x="29736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290310" y="1480820"/>
            <a:ext cx="661670" cy="661670"/>
            <a:chOff x="9906" y="2528"/>
            <a:chExt cx="1042" cy="1042"/>
          </a:xfrm>
        </p:grpSpPr>
        <p:sp>
          <p:nvSpPr>
            <p:cNvPr id="16" name="椭圆 15"/>
            <p:cNvSpPr/>
            <p:nvPr/>
          </p:nvSpPr>
          <p:spPr>
            <a:xfrm>
              <a:off x="9906" y="2528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10173" y="2779"/>
              <a:ext cx="507" cy="539"/>
            </a:xfrm>
            <a:custGeom>
              <a:avLst/>
              <a:gdLst>
                <a:gd name="connsiteX0" fmla="*/ 285671 w 571362"/>
                <a:gd name="connsiteY0" fmla="*/ 470107 h 606722"/>
                <a:gd name="connsiteX1" fmla="*/ 374169 w 571362"/>
                <a:gd name="connsiteY1" fmla="*/ 512238 h 606722"/>
                <a:gd name="connsiteX2" fmla="*/ 369717 w 571362"/>
                <a:gd name="connsiteY2" fmla="*/ 522815 h 606722"/>
                <a:gd name="connsiteX3" fmla="*/ 285671 w 571362"/>
                <a:gd name="connsiteY3" fmla="*/ 606722 h 606722"/>
                <a:gd name="connsiteX4" fmla="*/ 201625 w 571362"/>
                <a:gd name="connsiteY4" fmla="*/ 522815 h 606722"/>
                <a:gd name="connsiteX5" fmla="*/ 197262 w 571362"/>
                <a:gd name="connsiteY5" fmla="*/ 512238 h 606722"/>
                <a:gd name="connsiteX6" fmla="*/ 285671 w 571362"/>
                <a:gd name="connsiteY6" fmla="*/ 470107 h 606722"/>
                <a:gd name="connsiteX7" fmla="*/ 403524 w 571362"/>
                <a:gd name="connsiteY7" fmla="*/ 393967 h 606722"/>
                <a:gd name="connsiteX8" fmla="*/ 384914 w 571362"/>
                <a:gd name="connsiteY8" fmla="*/ 481539 h 606722"/>
                <a:gd name="connsiteX9" fmla="*/ 318846 w 571362"/>
                <a:gd name="connsiteY9" fmla="*/ 451044 h 606722"/>
                <a:gd name="connsiteX10" fmla="*/ 388387 w 571362"/>
                <a:gd name="connsiteY10" fmla="*/ 405169 h 606722"/>
                <a:gd name="connsiteX11" fmla="*/ 403524 w 571362"/>
                <a:gd name="connsiteY11" fmla="*/ 393967 h 606722"/>
                <a:gd name="connsiteX12" fmla="*/ 167906 w 571362"/>
                <a:gd name="connsiteY12" fmla="*/ 393967 h 606722"/>
                <a:gd name="connsiteX13" fmla="*/ 183034 w 571362"/>
                <a:gd name="connsiteY13" fmla="*/ 405169 h 606722"/>
                <a:gd name="connsiteX14" fmla="*/ 252443 w 571362"/>
                <a:gd name="connsiteY14" fmla="*/ 451044 h 606722"/>
                <a:gd name="connsiteX15" fmla="*/ 186504 w 571362"/>
                <a:gd name="connsiteY15" fmla="*/ 481539 h 606722"/>
                <a:gd name="connsiteX16" fmla="*/ 167906 w 571362"/>
                <a:gd name="connsiteY16" fmla="*/ 393967 h 606722"/>
                <a:gd name="connsiteX17" fmla="*/ 483987 w 571362"/>
                <a:gd name="connsiteY17" fmla="*/ 326436 h 606722"/>
                <a:gd name="connsiteX18" fmla="*/ 571215 w 571362"/>
                <a:gd name="connsiteY18" fmla="*/ 468871 h 606722"/>
                <a:gd name="connsiteX19" fmla="*/ 561602 w 571362"/>
                <a:gd name="connsiteY19" fmla="*/ 498549 h 606722"/>
                <a:gd name="connsiteX20" fmla="*/ 427733 w 571362"/>
                <a:gd name="connsiteY20" fmla="*/ 496860 h 606722"/>
                <a:gd name="connsiteX21" fmla="*/ 415450 w 571362"/>
                <a:gd name="connsiteY21" fmla="*/ 492862 h 606722"/>
                <a:gd name="connsiteX22" fmla="*/ 439304 w 571362"/>
                <a:gd name="connsiteY22" fmla="*/ 365888 h 606722"/>
                <a:gd name="connsiteX23" fmla="*/ 483987 w 571362"/>
                <a:gd name="connsiteY23" fmla="*/ 326436 h 606722"/>
                <a:gd name="connsiteX24" fmla="*/ 87462 w 571362"/>
                <a:gd name="connsiteY24" fmla="*/ 326436 h 606722"/>
                <a:gd name="connsiteX25" fmla="*/ 132145 w 571362"/>
                <a:gd name="connsiteY25" fmla="*/ 365899 h 606722"/>
                <a:gd name="connsiteX26" fmla="*/ 155910 w 571362"/>
                <a:gd name="connsiteY26" fmla="*/ 492907 h 606722"/>
                <a:gd name="connsiteX27" fmla="*/ 143716 w 571362"/>
                <a:gd name="connsiteY27" fmla="*/ 496907 h 606722"/>
                <a:gd name="connsiteX28" fmla="*/ 9758 w 571362"/>
                <a:gd name="connsiteY28" fmla="*/ 498596 h 606722"/>
                <a:gd name="connsiteX29" fmla="*/ 145 w 571362"/>
                <a:gd name="connsiteY29" fmla="*/ 468910 h 606722"/>
                <a:gd name="connsiteX30" fmla="*/ 87462 w 571362"/>
                <a:gd name="connsiteY30" fmla="*/ 326436 h 606722"/>
                <a:gd name="connsiteX31" fmla="*/ 441700 w 571362"/>
                <a:gd name="connsiteY31" fmla="*/ 285931 h 606722"/>
                <a:gd name="connsiteX32" fmla="*/ 460682 w 571362"/>
                <a:gd name="connsiteY32" fmla="*/ 303352 h 606722"/>
                <a:gd name="connsiteX33" fmla="*/ 441700 w 571362"/>
                <a:gd name="connsiteY33" fmla="*/ 320861 h 606722"/>
                <a:gd name="connsiteX34" fmla="*/ 441878 w 571362"/>
                <a:gd name="connsiteY34" fmla="*/ 303352 h 606722"/>
                <a:gd name="connsiteX35" fmla="*/ 441700 w 571362"/>
                <a:gd name="connsiteY35" fmla="*/ 285931 h 606722"/>
                <a:gd name="connsiteX36" fmla="*/ 129660 w 571362"/>
                <a:gd name="connsiteY36" fmla="*/ 285931 h 606722"/>
                <a:gd name="connsiteX37" fmla="*/ 129482 w 571362"/>
                <a:gd name="connsiteY37" fmla="*/ 303352 h 606722"/>
                <a:gd name="connsiteX38" fmla="*/ 129660 w 571362"/>
                <a:gd name="connsiteY38" fmla="*/ 320861 h 606722"/>
                <a:gd name="connsiteX39" fmla="*/ 110678 w 571362"/>
                <a:gd name="connsiteY39" fmla="*/ 303352 h 606722"/>
                <a:gd name="connsiteX40" fmla="*/ 129660 w 571362"/>
                <a:gd name="connsiteY40" fmla="*/ 285931 h 606722"/>
                <a:gd name="connsiteX41" fmla="*/ 285715 w 571362"/>
                <a:gd name="connsiteY41" fmla="*/ 279439 h 606722"/>
                <a:gd name="connsiteX42" fmla="*/ 309672 w 571362"/>
                <a:gd name="connsiteY42" fmla="*/ 303396 h 606722"/>
                <a:gd name="connsiteX43" fmla="*/ 285715 w 571362"/>
                <a:gd name="connsiteY43" fmla="*/ 327353 h 606722"/>
                <a:gd name="connsiteX44" fmla="*/ 261758 w 571362"/>
                <a:gd name="connsiteY44" fmla="*/ 303396 h 606722"/>
                <a:gd name="connsiteX45" fmla="*/ 285715 w 571362"/>
                <a:gd name="connsiteY45" fmla="*/ 279439 h 606722"/>
                <a:gd name="connsiteX46" fmla="*/ 285680 w 571362"/>
                <a:gd name="connsiteY46" fmla="*/ 246856 h 606722"/>
                <a:gd name="connsiteX47" fmla="*/ 229160 w 571362"/>
                <a:gd name="connsiteY47" fmla="*/ 303291 h 606722"/>
                <a:gd name="connsiteX48" fmla="*/ 285680 w 571362"/>
                <a:gd name="connsiteY48" fmla="*/ 359814 h 606722"/>
                <a:gd name="connsiteX49" fmla="*/ 342288 w 571362"/>
                <a:gd name="connsiteY49" fmla="*/ 303291 h 606722"/>
                <a:gd name="connsiteX50" fmla="*/ 285680 w 571362"/>
                <a:gd name="connsiteY50" fmla="*/ 246856 h 606722"/>
                <a:gd name="connsiteX51" fmla="*/ 285680 w 571362"/>
                <a:gd name="connsiteY51" fmla="*/ 173803 h 606722"/>
                <a:gd name="connsiteX52" fmla="*/ 369346 w 571362"/>
                <a:gd name="connsiteY52" fmla="*/ 227926 h 606722"/>
                <a:gd name="connsiteX53" fmla="*/ 407886 w 571362"/>
                <a:gd name="connsiteY53" fmla="*/ 257254 h 606722"/>
                <a:gd name="connsiteX54" fmla="*/ 409310 w 571362"/>
                <a:gd name="connsiteY54" fmla="*/ 303291 h 606722"/>
                <a:gd name="connsiteX55" fmla="*/ 407886 w 571362"/>
                <a:gd name="connsiteY55" fmla="*/ 349327 h 606722"/>
                <a:gd name="connsiteX56" fmla="*/ 369346 w 571362"/>
                <a:gd name="connsiteY56" fmla="*/ 378743 h 606722"/>
                <a:gd name="connsiteX57" fmla="*/ 285680 w 571362"/>
                <a:gd name="connsiteY57" fmla="*/ 432778 h 606722"/>
                <a:gd name="connsiteX58" fmla="*/ 202102 w 571362"/>
                <a:gd name="connsiteY58" fmla="*/ 378743 h 606722"/>
                <a:gd name="connsiteX59" fmla="*/ 163562 w 571362"/>
                <a:gd name="connsiteY59" fmla="*/ 349327 h 606722"/>
                <a:gd name="connsiteX60" fmla="*/ 162049 w 571362"/>
                <a:gd name="connsiteY60" fmla="*/ 303291 h 606722"/>
                <a:gd name="connsiteX61" fmla="*/ 163562 w 571362"/>
                <a:gd name="connsiteY61" fmla="*/ 257254 h 606722"/>
                <a:gd name="connsiteX62" fmla="*/ 202102 w 571362"/>
                <a:gd name="connsiteY62" fmla="*/ 227926 h 606722"/>
                <a:gd name="connsiteX63" fmla="*/ 285680 w 571362"/>
                <a:gd name="connsiteY63" fmla="*/ 173803 h 606722"/>
                <a:gd name="connsiteX64" fmla="*/ 384914 w 571362"/>
                <a:gd name="connsiteY64" fmla="*/ 125113 h 606722"/>
                <a:gd name="connsiteX65" fmla="*/ 403524 w 571362"/>
                <a:gd name="connsiteY65" fmla="*/ 212685 h 606722"/>
                <a:gd name="connsiteX66" fmla="*/ 388387 w 571362"/>
                <a:gd name="connsiteY66" fmla="*/ 201572 h 606722"/>
                <a:gd name="connsiteX67" fmla="*/ 318846 w 571362"/>
                <a:gd name="connsiteY67" fmla="*/ 155608 h 606722"/>
                <a:gd name="connsiteX68" fmla="*/ 384914 w 571362"/>
                <a:gd name="connsiteY68" fmla="*/ 125113 h 606722"/>
                <a:gd name="connsiteX69" fmla="*/ 186504 w 571362"/>
                <a:gd name="connsiteY69" fmla="*/ 125113 h 606722"/>
                <a:gd name="connsiteX70" fmla="*/ 252443 w 571362"/>
                <a:gd name="connsiteY70" fmla="*/ 155608 h 606722"/>
                <a:gd name="connsiteX71" fmla="*/ 183034 w 571362"/>
                <a:gd name="connsiteY71" fmla="*/ 201572 h 606722"/>
                <a:gd name="connsiteX72" fmla="*/ 167906 w 571362"/>
                <a:gd name="connsiteY72" fmla="*/ 212685 h 606722"/>
                <a:gd name="connsiteX73" fmla="*/ 186504 w 571362"/>
                <a:gd name="connsiteY73" fmla="*/ 125113 h 606722"/>
                <a:gd name="connsiteX74" fmla="*/ 513359 w 571362"/>
                <a:gd name="connsiteY74" fmla="*/ 94417 h 606722"/>
                <a:gd name="connsiteX75" fmla="*/ 561602 w 571362"/>
                <a:gd name="connsiteY75" fmla="*/ 108100 h 606722"/>
                <a:gd name="connsiteX76" fmla="*/ 571215 w 571362"/>
                <a:gd name="connsiteY76" fmla="*/ 137863 h 606722"/>
                <a:gd name="connsiteX77" fmla="*/ 483987 w 571362"/>
                <a:gd name="connsiteY77" fmla="*/ 280286 h 606722"/>
                <a:gd name="connsiteX78" fmla="*/ 439304 w 571362"/>
                <a:gd name="connsiteY78" fmla="*/ 240838 h 606722"/>
                <a:gd name="connsiteX79" fmla="*/ 415450 w 571362"/>
                <a:gd name="connsiteY79" fmla="*/ 113875 h 606722"/>
                <a:gd name="connsiteX80" fmla="*/ 427733 w 571362"/>
                <a:gd name="connsiteY80" fmla="*/ 109876 h 606722"/>
                <a:gd name="connsiteX81" fmla="*/ 513359 w 571362"/>
                <a:gd name="connsiteY81" fmla="*/ 94417 h 606722"/>
                <a:gd name="connsiteX82" fmla="*/ 57990 w 571362"/>
                <a:gd name="connsiteY82" fmla="*/ 94417 h 606722"/>
                <a:gd name="connsiteX83" fmla="*/ 143715 w 571362"/>
                <a:gd name="connsiteY83" fmla="*/ 109876 h 606722"/>
                <a:gd name="connsiteX84" fmla="*/ 155911 w 571362"/>
                <a:gd name="connsiteY84" fmla="*/ 113875 h 606722"/>
                <a:gd name="connsiteX85" fmla="*/ 132143 w 571362"/>
                <a:gd name="connsiteY85" fmla="*/ 240838 h 606722"/>
                <a:gd name="connsiteX86" fmla="*/ 87455 w 571362"/>
                <a:gd name="connsiteY86" fmla="*/ 280286 h 606722"/>
                <a:gd name="connsiteX87" fmla="*/ 127 w 571362"/>
                <a:gd name="connsiteY87" fmla="*/ 137863 h 606722"/>
                <a:gd name="connsiteX88" fmla="*/ 9741 w 571362"/>
                <a:gd name="connsiteY88" fmla="*/ 108100 h 606722"/>
                <a:gd name="connsiteX89" fmla="*/ 57990 w 571362"/>
                <a:gd name="connsiteY89" fmla="*/ 94417 h 606722"/>
                <a:gd name="connsiteX90" fmla="*/ 285671 w 571362"/>
                <a:gd name="connsiteY90" fmla="*/ 0 h 606722"/>
                <a:gd name="connsiteX91" fmla="*/ 369717 w 571362"/>
                <a:gd name="connsiteY91" fmla="*/ 83918 h 606722"/>
                <a:gd name="connsiteX92" fmla="*/ 374169 w 571362"/>
                <a:gd name="connsiteY92" fmla="*/ 94496 h 606722"/>
                <a:gd name="connsiteX93" fmla="*/ 285671 w 571362"/>
                <a:gd name="connsiteY93" fmla="*/ 136544 h 606722"/>
                <a:gd name="connsiteX94" fmla="*/ 197262 w 571362"/>
                <a:gd name="connsiteY94" fmla="*/ 94496 h 606722"/>
                <a:gd name="connsiteX95" fmla="*/ 201625 w 571362"/>
                <a:gd name="connsiteY95" fmla="*/ 83918 h 606722"/>
                <a:gd name="connsiteX96" fmla="*/ 285671 w 571362"/>
                <a:gd name="connsiteY96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571362" h="606722">
                  <a:moveTo>
                    <a:pt x="285671" y="470107"/>
                  </a:moveTo>
                  <a:cubicBezTo>
                    <a:pt x="315586" y="486551"/>
                    <a:pt x="345412" y="500772"/>
                    <a:pt x="374169" y="512238"/>
                  </a:cubicBezTo>
                  <a:cubicBezTo>
                    <a:pt x="372744" y="515793"/>
                    <a:pt x="371231" y="519349"/>
                    <a:pt x="369717" y="522815"/>
                  </a:cubicBezTo>
                  <a:cubicBezTo>
                    <a:pt x="346391" y="576146"/>
                    <a:pt x="315764" y="606722"/>
                    <a:pt x="285671" y="606722"/>
                  </a:cubicBezTo>
                  <a:cubicBezTo>
                    <a:pt x="255667" y="606722"/>
                    <a:pt x="225040" y="576146"/>
                    <a:pt x="201625" y="522815"/>
                  </a:cubicBezTo>
                  <a:cubicBezTo>
                    <a:pt x="200111" y="519349"/>
                    <a:pt x="198687" y="515793"/>
                    <a:pt x="197262" y="512238"/>
                  </a:cubicBezTo>
                  <a:cubicBezTo>
                    <a:pt x="226019" y="500772"/>
                    <a:pt x="255756" y="486551"/>
                    <a:pt x="285671" y="470107"/>
                  </a:cubicBezTo>
                  <a:close/>
                  <a:moveTo>
                    <a:pt x="403524" y="393967"/>
                  </a:moveTo>
                  <a:cubicBezTo>
                    <a:pt x="399428" y="425262"/>
                    <a:pt x="393106" y="454778"/>
                    <a:pt x="384914" y="481539"/>
                  </a:cubicBezTo>
                  <a:cubicBezTo>
                    <a:pt x="363367" y="472915"/>
                    <a:pt x="341284" y="462691"/>
                    <a:pt x="318846" y="451044"/>
                  </a:cubicBezTo>
                  <a:cubicBezTo>
                    <a:pt x="342264" y="436997"/>
                    <a:pt x="365593" y="421617"/>
                    <a:pt x="388387" y="405169"/>
                  </a:cubicBezTo>
                  <a:cubicBezTo>
                    <a:pt x="393462" y="401435"/>
                    <a:pt x="398538" y="397701"/>
                    <a:pt x="403524" y="393967"/>
                  </a:cubicBezTo>
                  <a:close/>
                  <a:moveTo>
                    <a:pt x="167906" y="393967"/>
                  </a:moveTo>
                  <a:cubicBezTo>
                    <a:pt x="172800" y="397701"/>
                    <a:pt x="177872" y="401435"/>
                    <a:pt x="183034" y="405169"/>
                  </a:cubicBezTo>
                  <a:cubicBezTo>
                    <a:pt x="205814" y="421617"/>
                    <a:pt x="229129" y="436997"/>
                    <a:pt x="252443" y="451044"/>
                  </a:cubicBezTo>
                  <a:cubicBezTo>
                    <a:pt x="230107" y="462691"/>
                    <a:pt x="208039" y="472915"/>
                    <a:pt x="186504" y="481539"/>
                  </a:cubicBezTo>
                  <a:cubicBezTo>
                    <a:pt x="178228" y="454778"/>
                    <a:pt x="171999" y="425262"/>
                    <a:pt x="167906" y="393967"/>
                  </a:cubicBezTo>
                  <a:close/>
                  <a:moveTo>
                    <a:pt x="483987" y="326436"/>
                  </a:moveTo>
                  <a:cubicBezTo>
                    <a:pt x="535879" y="380371"/>
                    <a:pt x="568723" y="432263"/>
                    <a:pt x="571215" y="468871"/>
                  </a:cubicBezTo>
                  <a:cubicBezTo>
                    <a:pt x="572105" y="481844"/>
                    <a:pt x="568990" y="491618"/>
                    <a:pt x="561602" y="498549"/>
                  </a:cubicBezTo>
                  <a:cubicBezTo>
                    <a:pt x="541842" y="517386"/>
                    <a:pt x="491730" y="516764"/>
                    <a:pt x="427733" y="496860"/>
                  </a:cubicBezTo>
                  <a:cubicBezTo>
                    <a:pt x="423728" y="495616"/>
                    <a:pt x="419633" y="494284"/>
                    <a:pt x="415450" y="492862"/>
                  </a:cubicBezTo>
                  <a:cubicBezTo>
                    <a:pt x="427377" y="454654"/>
                    <a:pt x="435477" y="411559"/>
                    <a:pt x="439304" y="365888"/>
                  </a:cubicBezTo>
                  <a:cubicBezTo>
                    <a:pt x="455148" y="352826"/>
                    <a:pt x="470101" y="339587"/>
                    <a:pt x="483987" y="326436"/>
                  </a:cubicBezTo>
                  <a:close/>
                  <a:moveTo>
                    <a:pt x="87462" y="326436"/>
                  </a:moveTo>
                  <a:cubicBezTo>
                    <a:pt x="101348" y="339590"/>
                    <a:pt x="116301" y="352833"/>
                    <a:pt x="132145" y="365899"/>
                  </a:cubicBezTo>
                  <a:cubicBezTo>
                    <a:pt x="135972" y="411583"/>
                    <a:pt x="144072" y="454689"/>
                    <a:pt x="155910" y="492907"/>
                  </a:cubicBezTo>
                  <a:cubicBezTo>
                    <a:pt x="151816" y="494329"/>
                    <a:pt x="147721" y="495663"/>
                    <a:pt x="143716" y="496907"/>
                  </a:cubicBezTo>
                  <a:cubicBezTo>
                    <a:pt x="79630" y="516816"/>
                    <a:pt x="29607" y="517527"/>
                    <a:pt x="9758" y="498596"/>
                  </a:cubicBezTo>
                  <a:cubicBezTo>
                    <a:pt x="2459" y="491663"/>
                    <a:pt x="-745" y="481886"/>
                    <a:pt x="145" y="468910"/>
                  </a:cubicBezTo>
                  <a:cubicBezTo>
                    <a:pt x="2637" y="432292"/>
                    <a:pt x="35481" y="380386"/>
                    <a:pt x="87462" y="326436"/>
                  </a:cubicBezTo>
                  <a:close/>
                  <a:moveTo>
                    <a:pt x="441700" y="285931"/>
                  </a:moveTo>
                  <a:cubicBezTo>
                    <a:pt x="448206" y="291708"/>
                    <a:pt x="454622" y="297574"/>
                    <a:pt x="460682" y="303352"/>
                  </a:cubicBezTo>
                  <a:cubicBezTo>
                    <a:pt x="454622" y="309218"/>
                    <a:pt x="448206" y="314995"/>
                    <a:pt x="441700" y="320861"/>
                  </a:cubicBezTo>
                  <a:cubicBezTo>
                    <a:pt x="441878" y="314995"/>
                    <a:pt x="441878" y="309218"/>
                    <a:pt x="441878" y="303352"/>
                  </a:cubicBezTo>
                  <a:cubicBezTo>
                    <a:pt x="441878" y="297574"/>
                    <a:pt x="441878" y="291708"/>
                    <a:pt x="441700" y="285931"/>
                  </a:cubicBezTo>
                  <a:close/>
                  <a:moveTo>
                    <a:pt x="129660" y="285931"/>
                  </a:moveTo>
                  <a:cubicBezTo>
                    <a:pt x="129571" y="291708"/>
                    <a:pt x="129482" y="297574"/>
                    <a:pt x="129482" y="303352"/>
                  </a:cubicBezTo>
                  <a:cubicBezTo>
                    <a:pt x="129482" y="309218"/>
                    <a:pt x="129571" y="314995"/>
                    <a:pt x="129660" y="320861"/>
                  </a:cubicBezTo>
                  <a:cubicBezTo>
                    <a:pt x="123154" y="314995"/>
                    <a:pt x="116827" y="309218"/>
                    <a:pt x="110678" y="303352"/>
                  </a:cubicBezTo>
                  <a:cubicBezTo>
                    <a:pt x="116827" y="297574"/>
                    <a:pt x="123154" y="291708"/>
                    <a:pt x="129660" y="285931"/>
                  </a:cubicBezTo>
                  <a:close/>
                  <a:moveTo>
                    <a:pt x="285715" y="279439"/>
                  </a:moveTo>
                  <a:cubicBezTo>
                    <a:pt x="298946" y="279439"/>
                    <a:pt x="309672" y="290165"/>
                    <a:pt x="309672" y="303396"/>
                  </a:cubicBezTo>
                  <a:cubicBezTo>
                    <a:pt x="309672" y="316627"/>
                    <a:pt x="298946" y="327353"/>
                    <a:pt x="285715" y="327353"/>
                  </a:cubicBezTo>
                  <a:cubicBezTo>
                    <a:pt x="272484" y="327353"/>
                    <a:pt x="261758" y="316627"/>
                    <a:pt x="261758" y="303396"/>
                  </a:cubicBezTo>
                  <a:cubicBezTo>
                    <a:pt x="261758" y="290165"/>
                    <a:pt x="272484" y="279439"/>
                    <a:pt x="285715" y="279439"/>
                  </a:cubicBezTo>
                  <a:close/>
                  <a:moveTo>
                    <a:pt x="285680" y="246856"/>
                  </a:moveTo>
                  <a:cubicBezTo>
                    <a:pt x="254527" y="246856"/>
                    <a:pt x="229160" y="272185"/>
                    <a:pt x="229160" y="303291"/>
                  </a:cubicBezTo>
                  <a:cubicBezTo>
                    <a:pt x="229160" y="334485"/>
                    <a:pt x="254527" y="359814"/>
                    <a:pt x="285680" y="359814"/>
                  </a:cubicBezTo>
                  <a:cubicBezTo>
                    <a:pt x="316921" y="359814"/>
                    <a:pt x="342288" y="334485"/>
                    <a:pt x="342288" y="303291"/>
                  </a:cubicBezTo>
                  <a:cubicBezTo>
                    <a:pt x="342288" y="272185"/>
                    <a:pt x="316921" y="246856"/>
                    <a:pt x="285680" y="246856"/>
                  </a:cubicBezTo>
                  <a:close/>
                  <a:moveTo>
                    <a:pt x="285680" y="173803"/>
                  </a:moveTo>
                  <a:cubicBezTo>
                    <a:pt x="313717" y="189978"/>
                    <a:pt x="341843" y="208108"/>
                    <a:pt x="369346" y="227926"/>
                  </a:cubicBezTo>
                  <a:cubicBezTo>
                    <a:pt x="382608" y="237525"/>
                    <a:pt x="395514" y="247301"/>
                    <a:pt x="407886" y="257254"/>
                  </a:cubicBezTo>
                  <a:cubicBezTo>
                    <a:pt x="408865" y="272363"/>
                    <a:pt x="409310" y="287738"/>
                    <a:pt x="409310" y="303291"/>
                  </a:cubicBezTo>
                  <a:cubicBezTo>
                    <a:pt x="409310" y="318843"/>
                    <a:pt x="408865" y="334218"/>
                    <a:pt x="407886" y="349327"/>
                  </a:cubicBezTo>
                  <a:cubicBezTo>
                    <a:pt x="395514" y="359280"/>
                    <a:pt x="382608" y="369145"/>
                    <a:pt x="369346" y="378743"/>
                  </a:cubicBezTo>
                  <a:cubicBezTo>
                    <a:pt x="341843" y="398562"/>
                    <a:pt x="313717" y="416692"/>
                    <a:pt x="285680" y="432778"/>
                  </a:cubicBezTo>
                  <a:cubicBezTo>
                    <a:pt x="257642" y="416692"/>
                    <a:pt x="229605" y="398562"/>
                    <a:pt x="202102" y="378743"/>
                  </a:cubicBezTo>
                  <a:cubicBezTo>
                    <a:pt x="188840" y="369145"/>
                    <a:pt x="175934" y="359280"/>
                    <a:pt x="163562" y="349327"/>
                  </a:cubicBezTo>
                  <a:cubicBezTo>
                    <a:pt x="162583" y="334218"/>
                    <a:pt x="162049" y="318843"/>
                    <a:pt x="162049" y="303291"/>
                  </a:cubicBezTo>
                  <a:cubicBezTo>
                    <a:pt x="162049" y="287738"/>
                    <a:pt x="162583" y="272363"/>
                    <a:pt x="163562" y="257254"/>
                  </a:cubicBezTo>
                  <a:cubicBezTo>
                    <a:pt x="175934" y="247301"/>
                    <a:pt x="188840" y="237525"/>
                    <a:pt x="202102" y="227926"/>
                  </a:cubicBezTo>
                  <a:cubicBezTo>
                    <a:pt x="229605" y="208108"/>
                    <a:pt x="257642" y="189978"/>
                    <a:pt x="285680" y="173803"/>
                  </a:cubicBezTo>
                  <a:close/>
                  <a:moveTo>
                    <a:pt x="384914" y="125113"/>
                  </a:moveTo>
                  <a:cubicBezTo>
                    <a:pt x="393106" y="151962"/>
                    <a:pt x="399428" y="181479"/>
                    <a:pt x="403524" y="212685"/>
                  </a:cubicBezTo>
                  <a:cubicBezTo>
                    <a:pt x="398538" y="208951"/>
                    <a:pt x="393462" y="205306"/>
                    <a:pt x="388387" y="201572"/>
                  </a:cubicBezTo>
                  <a:cubicBezTo>
                    <a:pt x="365503" y="185124"/>
                    <a:pt x="342264" y="169744"/>
                    <a:pt x="318846" y="155608"/>
                  </a:cubicBezTo>
                  <a:cubicBezTo>
                    <a:pt x="341284" y="144050"/>
                    <a:pt x="363367" y="133826"/>
                    <a:pt x="384914" y="125113"/>
                  </a:cubicBezTo>
                  <a:close/>
                  <a:moveTo>
                    <a:pt x="186504" y="125113"/>
                  </a:moveTo>
                  <a:cubicBezTo>
                    <a:pt x="208039" y="133826"/>
                    <a:pt x="230107" y="144050"/>
                    <a:pt x="252443" y="155608"/>
                  </a:cubicBezTo>
                  <a:cubicBezTo>
                    <a:pt x="229129" y="169744"/>
                    <a:pt x="205814" y="185124"/>
                    <a:pt x="183034" y="201572"/>
                  </a:cubicBezTo>
                  <a:cubicBezTo>
                    <a:pt x="177872" y="205306"/>
                    <a:pt x="172800" y="208951"/>
                    <a:pt x="167906" y="212685"/>
                  </a:cubicBezTo>
                  <a:cubicBezTo>
                    <a:pt x="171999" y="181479"/>
                    <a:pt x="178228" y="151962"/>
                    <a:pt x="186504" y="125113"/>
                  </a:cubicBezTo>
                  <a:close/>
                  <a:moveTo>
                    <a:pt x="513359" y="94417"/>
                  </a:moveTo>
                  <a:cubicBezTo>
                    <a:pt x="535344" y="94417"/>
                    <a:pt x="551989" y="98948"/>
                    <a:pt x="561602" y="108100"/>
                  </a:cubicBezTo>
                  <a:cubicBezTo>
                    <a:pt x="568990" y="115118"/>
                    <a:pt x="572105" y="124803"/>
                    <a:pt x="571215" y="137863"/>
                  </a:cubicBezTo>
                  <a:cubicBezTo>
                    <a:pt x="568723" y="174380"/>
                    <a:pt x="535879" y="226356"/>
                    <a:pt x="483987" y="280286"/>
                  </a:cubicBezTo>
                  <a:cubicBezTo>
                    <a:pt x="470101" y="267048"/>
                    <a:pt x="455148" y="253898"/>
                    <a:pt x="439304" y="240838"/>
                  </a:cubicBezTo>
                  <a:cubicBezTo>
                    <a:pt x="435477" y="195170"/>
                    <a:pt x="427377" y="151990"/>
                    <a:pt x="415450" y="113875"/>
                  </a:cubicBezTo>
                  <a:cubicBezTo>
                    <a:pt x="419633" y="112453"/>
                    <a:pt x="423728" y="111120"/>
                    <a:pt x="427733" y="109876"/>
                  </a:cubicBezTo>
                  <a:cubicBezTo>
                    <a:pt x="460755" y="99570"/>
                    <a:pt x="490039" y="94417"/>
                    <a:pt x="513359" y="94417"/>
                  </a:cubicBezTo>
                  <a:close/>
                  <a:moveTo>
                    <a:pt x="57990" y="94417"/>
                  </a:moveTo>
                  <a:cubicBezTo>
                    <a:pt x="81402" y="94417"/>
                    <a:pt x="110689" y="99570"/>
                    <a:pt x="143715" y="109876"/>
                  </a:cubicBezTo>
                  <a:cubicBezTo>
                    <a:pt x="147721" y="111120"/>
                    <a:pt x="151816" y="112453"/>
                    <a:pt x="155911" y="113875"/>
                  </a:cubicBezTo>
                  <a:cubicBezTo>
                    <a:pt x="144071" y="151990"/>
                    <a:pt x="135971" y="195170"/>
                    <a:pt x="132143" y="240838"/>
                  </a:cubicBezTo>
                  <a:cubicBezTo>
                    <a:pt x="116297" y="253898"/>
                    <a:pt x="101342" y="267048"/>
                    <a:pt x="87455" y="280286"/>
                  </a:cubicBezTo>
                  <a:cubicBezTo>
                    <a:pt x="35468" y="226356"/>
                    <a:pt x="2620" y="174380"/>
                    <a:pt x="127" y="137863"/>
                  </a:cubicBezTo>
                  <a:cubicBezTo>
                    <a:pt x="-674" y="124803"/>
                    <a:pt x="2442" y="115118"/>
                    <a:pt x="9741" y="108100"/>
                  </a:cubicBezTo>
                  <a:cubicBezTo>
                    <a:pt x="19355" y="98948"/>
                    <a:pt x="36091" y="94417"/>
                    <a:pt x="57990" y="94417"/>
                  </a:cubicBezTo>
                  <a:close/>
                  <a:moveTo>
                    <a:pt x="285671" y="0"/>
                  </a:moveTo>
                  <a:cubicBezTo>
                    <a:pt x="315764" y="0"/>
                    <a:pt x="346391" y="30580"/>
                    <a:pt x="369717" y="83918"/>
                  </a:cubicBezTo>
                  <a:cubicBezTo>
                    <a:pt x="371231" y="87385"/>
                    <a:pt x="372744" y="90852"/>
                    <a:pt x="374169" y="94496"/>
                  </a:cubicBezTo>
                  <a:cubicBezTo>
                    <a:pt x="345412" y="105964"/>
                    <a:pt x="315586" y="120098"/>
                    <a:pt x="285671" y="136544"/>
                  </a:cubicBezTo>
                  <a:cubicBezTo>
                    <a:pt x="255756" y="120098"/>
                    <a:pt x="226019" y="105964"/>
                    <a:pt x="197262" y="94496"/>
                  </a:cubicBezTo>
                  <a:cubicBezTo>
                    <a:pt x="198687" y="90852"/>
                    <a:pt x="200111" y="87296"/>
                    <a:pt x="201625" y="83918"/>
                  </a:cubicBezTo>
                  <a:cubicBezTo>
                    <a:pt x="225040" y="30580"/>
                    <a:pt x="255667" y="0"/>
                    <a:pt x="2856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31" name="椭圆 30"/>
          <p:cNvSpPr/>
          <p:nvPr/>
        </p:nvSpPr>
        <p:spPr>
          <a:xfrm>
            <a:off x="1979421" y="1730052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292286" y="1598967"/>
            <a:ext cx="206627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01.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思想成长类</a:t>
            </a:r>
          </a:p>
        </p:txBody>
      </p:sp>
      <p:sp>
        <p:nvSpPr>
          <p:cNvPr id="27" name="标题 26">
            <a:extLst>
              <a:ext uri="{FF2B5EF4-FFF2-40B4-BE49-F238E27FC236}">
                <a16:creationId xmlns:a16="http://schemas.microsoft.com/office/drawing/2014/main" id="{9EB4F174-5C3B-4F84-2B3F-63E5E73F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01 </a:t>
            </a:r>
            <a:r>
              <a:rPr lang="zh-CN" altLang="en-US" dirty="0"/>
              <a:t>课程项目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51706-E536-BBFF-4DBE-7865E693B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F097CA0-07C8-D9C0-8602-A68B6B125013}"/>
              </a:ext>
            </a:extLst>
          </p:cNvPr>
          <p:cNvCxnSpPr/>
          <p:nvPr/>
        </p:nvCxnSpPr>
        <p:spPr>
          <a:xfrm>
            <a:off x="7317930" y="1078992"/>
            <a:ext cx="0" cy="5065776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ECC7F64-26D4-0E7B-B320-7D1120F33677}"/>
              </a:ext>
            </a:extLst>
          </p:cNvPr>
          <p:cNvCxnSpPr/>
          <p:nvPr/>
        </p:nvCxnSpPr>
        <p:spPr>
          <a:xfrm>
            <a:off x="2049970" y="1078992"/>
            <a:ext cx="0" cy="5065776"/>
          </a:xfrm>
          <a:prstGeom prst="line">
            <a:avLst/>
          </a:prstGeom>
          <a:ln w="25400"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B00E009-E29F-734A-6590-4FEEFAB5F8A1}"/>
              </a:ext>
            </a:extLst>
          </p:cNvPr>
          <p:cNvSpPr txBox="1"/>
          <p:nvPr/>
        </p:nvSpPr>
        <p:spPr>
          <a:xfrm>
            <a:off x="2292286" y="3215529"/>
            <a:ext cx="3575685" cy="609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主要包括学生参与文艺、体育、人文素养等各级各类校园文化活动。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3EA9ECD-990A-4A30-F95B-6AA00D087CFD}"/>
              </a:ext>
            </a:extLst>
          </p:cNvPr>
          <p:cNvSpPr/>
          <p:nvPr/>
        </p:nvSpPr>
        <p:spPr>
          <a:xfrm>
            <a:off x="7247381" y="3429000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EFABE4A-3A17-77D3-2EC0-3F6D91B36C71}"/>
              </a:ext>
            </a:extLst>
          </p:cNvPr>
          <p:cNvSpPr txBox="1"/>
          <p:nvPr/>
        </p:nvSpPr>
        <p:spPr>
          <a:xfrm>
            <a:off x="7560246" y="2805786"/>
            <a:ext cx="206627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06.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技能特长类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18E2E6-E731-28DA-D4CA-5F532D9EE5DA}"/>
              </a:ext>
            </a:extLst>
          </p:cNvPr>
          <p:cNvSpPr txBox="1"/>
          <p:nvPr/>
        </p:nvSpPr>
        <p:spPr>
          <a:xfrm>
            <a:off x="7579360" y="3215529"/>
            <a:ext cx="3732530" cy="6090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b="0" dirty="0">
                <a:effectLst/>
                <a:latin typeface="+mn-ea"/>
              </a:rPr>
              <a:t>主要包括学生参加各级各类技能培训以及获得的各类资格证书。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A6F82C-2B15-0119-4942-EFF571699690}"/>
              </a:ext>
            </a:extLst>
          </p:cNvPr>
          <p:cNvGrpSpPr/>
          <p:nvPr/>
        </p:nvGrpSpPr>
        <p:grpSpPr>
          <a:xfrm>
            <a:off x="1022350" y="3179768"/>
            <a:ext cx="661670" cy="661670"/>
            <a:chOff x="1610" y="2556"/>
            <a:chExt cx="1042" cy="1042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B8F28D26-D618-AB4A-D61D-5CAA0B3BD057}"/>
                </a:ext>
              </a:extLst>
            </p:cNvPr>
            <p:cNvSpPr/>
            <p:nvPr/>
          </p:nvSpPr>
          <p:spPr>
            <a:xfrm>
              <a:off x="1610" y="2556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97B7697-A6DF-031A-0DCF-CCC1B90E5057}"/>
                </a:ext>
              </a:extLst>
            </p:cNvPr>
            <p:cNvSpPr/>
            <p:nvPr/>
          </p:nvSpPr>
          <p:spPr>
            <a:xfrm>
              <a:off x="1861" y="2842"/>
              <a:ext cx="539" cy="538"/>
            </a:xfrm>
            <a:custGeom>
              <a:avLst/>
              <a:gdLst>
                <a:gd name="T0" fmla="*/ 5136 w 5158"/>
                <a:gd name="T1" fmla="*/ 1919 h 5159"/>
                <a:gd name="T2" fmla="*/ 4927 w 5158"/>
                <a:gd name="T3" fmla="*/ 600 h 5159"/>
                <a:gd name="T4" fmla="*/ 4559 w 5158"/>
                <a:gd name="T5" fmla="*/ 232 h 5159"/>
                <a:gd name="T6" fmla="*/ 3240 w 5158"/>
                <a:gd name="T7" fmla="*/ 22 h 5159"/>
                <a:gd name="T8" fmla="*/ 2858 w 5158"/>
                <a:gd name="T9" fmla="*/ 147 h 5159"/>
                <a:gd name="T10" fmla="*/ 173 w 5158"/>
                <a:gd name="T11" fmla="*/ 2831 h 5159"/>
                <a:gd name="T12" fmla="*/ 173 w 5158"/>
                <a:gd name="T13" fmla="*/ 3457 h 5159"/>
                <a:gd name="T14" fmla="*/ 1701 w 5158"/>
                <a:gd name="T15" fmla="*/ 4986 h 5159"/>
                <a:gd name="T16" fmla="*/ 2327 w 5158"/>
                <a:gd name="T17" fmla="*/ 4986 h 5159"/>
                <a:gd name="T18" fmla="*/ 5012 w 5158"/>
                <a:gd name="T19" fmla="*/ 2301 h 5159"/>
                <a:gd name="T20" fmla="*/ 5136 w 5158"/>
                <a:gd name="T21" fmla="*/ 1919 h 5159"/>
                <a:gd name="T22" fmla="*/ 2212 w 5158"/>
                <a:gd name="T23" fmla="*/ 4643 h 5159"/>
                <a:gd name="T24" fmla="*/ 1968 w 5158"/>
                <a:gd name="T25" fmla="*/ 4643 h 5159"/>
                <a:gd name="T26" fmla="*/ 515 w 5158"/>
                <a:gd name="T27" fmla="*/ 3191 h 5159"/>
                <a:gd name="T28" fmla="*/ 515 w 5158"/>
                <a:gd name="T29" fmla="*/ 2946 h 5159"/>
                <a:gd name="T30" fmla="*/ 760 w 5158"/>
                <a:gd name="T31" fmla="*/ 2946 h 5159"/>
                <a:gd name="T32" fmla="*/ 2212 w 5158"/>
                <a:gd name="T33" fmla="*/ 4399 h 5159"/>
                <a:gd name="T34" fmla="*/ 2212 w 5158"/>
                <a:gd name="T35" fmla="*/ 4643 h 5159"/>
                <a:gd name="T36" fmla="*/ 4166 w 5158"/>
                <a:gd name="T37" fmla="*/ 1464 h 5159"/>
                <a:gd name="T38" fmla="*/ 3695 w 5158"/>
                <a:gd name="T39" fmla="*/ 1464 h 5159"/>
                <a:gd name="T40" fmla="*/ 3695 w 5158"/>
                <a:gd name="T41" fmla="*/ 993 h 5159"/>
                <a:gd name="T42" fmla="*/ 4166 w 5158"/>
                <a:gd name="T43" fmla="*/ 993 h 5159"/>
                <a:gd name="T44" fmla="*/ 4166 w 5158"/>
                <a:gd name="T45" fmla="*/ 1464 h 5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158" h="5159">
                  <a:moveTo>
                    <a:pt x="5136" y="1919"/>
                  </a:moveTo>
                  <a:lnTo>
                    <a:pt x="4927" y="600"/>
                  </a:lnTo>
                  <a:cubicBezTo>
                    <a:pt x="4897" y="411"/>
                    <a:pt x="4748" y="262"/>
                    <a:pt x="4559" y="232"/>
                  </a:cubicBezTo>
                  <a:lnTo>
                    <a:pt x="3240" y="22"/>
                  </a:lnTo>
                  <a:cubicBezTo>
                    <a:pt x="3100" y="0"/>
                    <a:pt x="2958" y="46"/>
                    <a:pt x="2858" y="147"/>
                  </a:cubicBezTo>
                  <a:lnTo>
                    <a:pt x="173" y="2831"/>
                  </a:lnTo>
                  <a:cubicBezTo>
                    <a:pt x="0" y="3004"/>
                    <a:pt x="0" y="3285"/>
                    <a:pt x="173" y="3457"/>
                  </a:cubicBezTo>
                  <a:lnTo>
                    <a:pt x="1701" y="4986"/>
                  </a:lnTo>
                  <a:cubicBezTo>
                    <a:pt x="1874" y="5159"/>
                    <a:pt x="2154" y="5159"/>
                    <a:pt x="2327" y="4986"/>
                  </a:cubicBezTo>
                  <a:lnTo>
                    <a:pt x="5012" y="2301"/>
                  </a:lnTo>
                  <a:cubicBezTo>
                    <a:pt x="5112" y="2201"/>
                    <a:pt x="5158" y="2059"/>
                    <a:pt x="5136" y="1919"/>
                  </a:cubicBezTo>
                  <a:close/>
                  <a:moveTo>
                    <a:pt x="2212" y="4643"/>
                  </a:moveTo>
                  <a:cubicBezTo>
                    <a:pt x="2145" y="4711"/>
                    <a:pt x="2035" y="4711"/>
                    <a:pt x="1968" y="4643"/>
                  </a:cubicBezTo>
                  <a:lnTo>
                    <a:pt x="515" y="3191"/>
                  </a:lnTo>
                  <a:cubicBezTo>
                    <a:pt x="448" y="3124"/>
                    <a:pt x="448" y="3014"/>
                    <a:pt x="515" y="2946"/>
                  </a:cubicBezTo>
                  <a:cubicBezTo>
                    <a:pt x="583" y="2879"/>
                    <a:pt x="692" y="2879"/>
                    <a:pt x="760" y="2946"/>
                  </a:cubicBezTo>
                  <a:lnTo>
                    <a:pt x="2212" y="4399"/>
                  </a:lnTo>
                  <a:cubicBezTo>
                    <a:pt x="2280" y="4466"/>
                    <a:pt x="2280" y="4576"/>
                    <a:pt x="2212" y="4643"/>
                  </a:cubicBezTo>
                  <a:close/>
                  <a:moveTo>
                    <a:pt x="4166" y="1464"/>
                  </a:moveTo>
                  <a:cubicBezTo>
                    <a:pt x="4036" y="1594"/>
                    <a:pt x="3825" y="1594"/>
                    <a:pt x="3695" y="1464"/>
                  </a:cubicBezTo>
                  <a:cubicBezTo>
                    <a:pt x="3565" y="1334"/>
                    <a:pt x="3565" y="1123"/>
                    <a:pt x="3695" y="993"/>
                  </a:cubicBezTo>
                  <a:cubicBezTo>
                    <a:pt x="3825" y="862"/>
                    <a:pt x="4036" y="862"/>
                    <a:pt x="4166" y="993"/>
                  </a:cubicBezTo>
                  <a:cubicBezTo>
                    <a:pt x="4296" y="1123"/>
                    <a:pt x="4296" y="1334"/>
                    <a:pt x="4166" y="14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/>
              <a:endParaRPr lang="en-US" sz="1600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14EC6A8-9E7A-5BDC-D8EB-E501ACDAC02A}"/>
              </a:ext>
            </a:extLst>
          </p:cNvPr>
          <p:cNvGrpSpPr/>
          <p:nvPr/>
        </p:nvGrpSpPr>
        <p:grpSpPr>
          <a:xfrm>
            <a:off x="6290310" y="3179768"/>
            <a:ext cx="661670" cy="661670"/>
            <a:chOff x="9906" y="2528"/>
            <a:chExt cx="1042" cy="1042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2F53A35-E58E-1A60-6F8A-0E60DBAA0839}"/>
                </a:ext>
              </a:extLst>
            </p:cNvPr>
            <p:cNvSpPr/>
            <p:nvPr/>
          </p:nvSpPr>
          <p:spPr>
            <a:xfrm>
              <a:off x="9906" y="2528"/>
              <a:ext cx="1042" cy="104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l"/>
              <a:endParaRPr lang="zh-CN" altLang="en-US" sz="14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4578DDAF-B79B-F3AE-C281-378603299741}"/>
                </a:ext>
              </a:extLst>
            </p:cNvPr>
            <p:cNvSpPr/>
            <p:nvPr/>
          </p:nvSpPr>
          <p:spPr>
            <a:xfrm>
              <a:off x="10173" y="2779"/>
              <a:ext cx="507" cy="539"/>
            </a:xfrm>
            <a:custGeom>
              <a:avLst/>
              <a:gdLst>
                <a:gd name="connsiteX0" fmla="*/ 285671 w 571362"/>
                <a:gd name="connsiteY0" fmla="*/ 470107 h 606722"/>
                <a:gd name="connsiteX1" fmla="*/ 374169 w 571362"/>
                <a:gd name="connsiteY1" fmla="*/ 512238 h 606722"/>
                <a:gd name="connsiteX2" fmla="*/ 369717 w 571362"/>
                <a:gd name="connsiteY2" fmla="*/ 522815 h 606722"/>
                <a:gd name="connsiteX3" fmla="*/ 285671 w 571362"/>
                <a:gd name="connsiteY3" fmla="*/ 606722 h 606722"/>
                <a:gd name="connsiteX4" fmla="*/ 201625 w 571362"/>
                <a:gd name="connsiteY4" fmla="*/ 522815 h 606722"/>
                <a:gd name="connsiteX5" fmla="*/ 197262 w 571362"/>
                <a:gd name="connsiteY5" fmla="*/ 512238 h 606722"/>
                <a:gd name="connsiteX6" fmla="*/ 285671 w 571362"/>
                <a:gd name="connsiteY6" fmla="*/ 470107 h 606722"/>
                <a:gd name="connsiteX7" fmla="*/ 403524 w 571362"/>
                <a:gd name="connsiteY7" fmla="*/ 393967 h 606722"/>
                <a:gd name="connsiteX8" fmla="*/ 384914 w 571362"/>
                <a:gd name="connsiteY8" fmla="*/ 481539 h 606722"/>
                <a:gd name="connsiteX9" fmla="*/ 318846 w 571362"/>
                <a:gd name="connsiteY9" fmla="*/ 451044 h 606722"/>
                <a:gd name="connsiteX10" fmla="*/ 388387 w 571362"/>
                <a:gd name="connsiteY10" fmla="*/ 405169 h 606722"/>
                <a:gd name="connsiteX11" fmla="*/ 403524 w 571362"/>
                <a:gd name="connsiteY11" fmla="*/ 393967 h 606722"/>
                <a:gd name="connsiteX12" fmla="*/ 167906 w 571362"/>
                <a:gd name="connsiteY12" fmla="*/ 393967 h 606722"/>
                <a:gd name="connsiteX13" fmla="*/ 183034 w 571362"/>
                <a:gd name="connsiteY13" fmla="*/ 405169 h 606722"/>
                <a:gd name="connsiteX14" fmla="*/ 252443 w 571362"/>
                <a:gd name="connsiteY14" fmla="*/ 451044 h 606722"/>
                <a:gd name="connsiteX15" fmla="*/ 186504 w 571362"/>
                <a:gd name="connsiteY15" fmla="*/ 481539 h 606722"/>
                <a:gd name="connsiteX16" fmla="*/ 167906 w 571362"/>
                <a:gd name="connsiteY16" fmla="*/ 393967 h 606722"/>
                <a:gd name="connsiteX17" fmla="*/ 483987 w 571362"/>
                <a:gd name="connsiteY17" fmla="*/ 326436 h 606722"/>
                <a:gd name="connsiteX18" fmla="*/ 571215 w 571362"/>
                <a:gd name="connsiteY18" fmla="*/ 468871 h 606722"/>
                <a:gd name="connsiteX19" fmla="*/ 561602 w 571362"/>
                <a:gd name="connsiteY19" fmla="*/ 498549 h 606722"/>
                <a:gd name="connsiteX20" fmla="*/ 427733 w 571362"/>
                <a:gd name="connsiteY20" fmla="*/ 496860 h 606722"/>
                <a:gd name="connsiteX21" fmla="*/ 415450 w 571362"/>
                <a:gd name="connsiteY21" fmla="*/ 492862 h 606722"/>
                <a:gd name="connsiteX22" fmla="*/ 439304 w 571362"/>
                <a:gd name="connsiteY22" fmla="*/ 365888 h 606722"/>
                <a:gd name="connsiteX23" fmla="*/ 483987 w 571362"/>
                <a:gd name="connsiteY23" fmla="*/ 326436 h 606722"/>
                <a:gd name="connsiteX24" fmla="*/ 87462 w 571362"/>
                <a:gd name="connsiteY24" fmla="*/ 326436 h 606722"/>
                <a:gd name="connsiteX25" fmla="*/ 132145 w 571362"/>
                <a:gd name="connsiteY25" fmla="*/ 365899 h 606722"/>
                <a:gd name="connsiteX26" fmla="*/ 155910 w 571362"/>
                <a:gd name="connsiteY26" fmla="*/ 492907 h 606722"/>
                <a:gd name="connsiteX27" fmla="*/ 143716 w 571362"/>
                <a:gd name="connsiteY27" fmla="*/ 496907 h 606722"/>
                <a:gd name="connsiteX28" fmla="*/ 9758 w 571362"/>
                <a:gd name="connsiteY28" fmla="*/ 498596 h 606722"/>
                <a:gd name="connsiteX29" fmla="*/ 145 w 571362"/>
                <a:gd name="connsiteY29" fmla="*/ 468910 h 606722"/>
                <a:gd name="connsiteX30" fmla="*/ 87462 w 571362"/>
                <a:gd name="connsiteY30" fmla="*/ 326436 h 606722"/>
                <a:gd name="connsiteX31" fmla="*/ 441700 w 571362"/>
                <a:gd name="connsiteY31" fmla="*/ 285931 h 606722"/>
                <a:gd name="connsiteX32" fmla="*/ 460682 w 571362"/>
                <a:gd name="connsiteY32" fmla="*/ 303352 h 606722"/>
                <a:gd name="connsiteX33" fmla="*/ 441700 w 571362"/>
                <a:gd name="connsiteY33" fmla="*/ 320861 h 606722"/>
                <a:gd name="connsiteX34" fmla="*/ 441878 w 571362"/>
                <a:gd name="connsiteY34" fmla="*/ 303352 h 606722"/>
                <a:gd name="connsiteX35" fmla="*/ 441700 w 571362"/>
                <a:gd name="connsiteY35" fmla="*/ 285931 h 606722"/>
                <a:gd name="connsiteX36" fmla="*/ 129660 w 571362"/>
                <a:gd name="connsiteY36" fmla="*/ 285931 h 606722"/>
                <a:gd name="connsiteX37" fmla="*/ 129482 w 571362"/>
                <a:gd name="connsiteY37" fmla="*/ 303352 h 606722"/>
                <a:gd name="connsiteX38" fmla="*/ 129660 w 571362"/>
                <a:gd name="connsiteY38" fmla="*/ 320861 h 606722"/>
                <a:gd name="connsiteX39" fmla="*/ 110678 w 571362"/>
                <a:gd name="connsiteY39" fmla="*/ 303352 h 606722"/>
                <a:gd name="connsiteX40" fmla="*/ 129660 w 571362"/>
                <a:gd name="connsiteY40" fmla="*/ 285931 h 606722"/>
                <a:gd name="connsiteX41" fmla="*/ 285715 w 571362"/>
                <a:gd name="connsiteY41" fmla="*/ 279439 h 606722"/>
                <a:gd name="connsiteX42" fmla="*/ 309672 w 571362"/>
                <a:gd name="connsiteY42" fmla="*/ 303396 h 606722"/>
                <a:gd name="connsiteX43" fmla="*/ 285715 w 571362"/>
                <a:gd name="connsiteY43" fmla="*/ 327353 h 606722"/>
                <a:gd name="connsiteX44" fmla="*/ 261758 w 571362"/>
                <a:gd name="connsiteY44" fmla="*/ 303396 h 606722"/>
                <a:gd name="connsiteX45" fmla="*/ 285715 w 571362"/>
                <a:gd name="connsiteY45" fmla="*/ 279439 h 606722"/>
                <a:gd name="connsiteX46" fmla="*/ 285680 w 571362"/>
                <a:gd name="connsiteY46" fmla="*/ 246856 h 606722"/>
                <a:gd name="connsiteX47" fmla="*/ 229160 w 571362"/>
                <a:gd name="connsiteY47" fmla="*/ 303291 h 606722"/>
                <a:gd name="connsiteX48" fmla="*/ 285680 w 571362"/>
                <a:gd name="connsiteY48" fmla="*/ 359814 h 606722"/>
                <a:gd name="connsiteX49" fmla="*/ 342288 w 571362"/>
                <a:gd name="connsiteY49" fmla="*/ 303291 h 606722"/>
                <a:gd name="connsiteX50" fmla="*/ 285680 w 571362"/>
                <a:gd name="connsiteY50" fmla="*/ 246856 h 606722"/>
                <a:gd name="connsiteX51" fmla="*/ 285680 w 571362"/>
                <a:gd name="connsiteY51" fmla="*/ 173803 h 606722"/>
                <a:gd name="connsiteX52" fmla="*/ 369346 w 571362"/>
                <a:gd name="connsiteY52" fmla="*/ 227926 h 606722"/>
                <a:gd name="connsiteX53" fmla="*/ 407886 w 571362"/>
                <a:gd name="connsiteY53" fmla="*/ 257254 h 606722"/>
                <a:gd name="connsiteX54" fmla="*/ 409310 w 571362"/>
                <a:gd name="connsiteY54" fmla="*/ 303291 h 606722"/>
                <a:gd name="connsiteX55" fmla="*/ 407886 w 571362"/>
                <a:gd name="connsiteY55" fmla="*/ 349327 h 606722"/>
                <a:gd name="connsiteX56" fmla="*/ 369346 w 571362"/>
                <a:gd name="connsiteY56" fmla="*/ 378743 h 606722"/>
                <a:gd name="connsiteX57" fmla="*/ 285680 w 571362"/>
                <a:gd name="connsiteY57" fmla="*/ 432778 h 606722"/>
                <a:gd name="connsiteX58" fmla="*/ 202102 w 571362"/>
                <a:gd name="connsiteY58" fmla="*/ 378743 h 606722"/>
                <a:gd name="connsiteX59" fmla="*/ 163562 w 571362"/>
                <a:gd name="connsiteY59" fmla="*/ 349327 h 606722"/>
                <a:gd name="connsiteX60" fmla="*/ 162049 w 571362"/>
                <a:gd name="connsiteY60" fmla="*/ 303291 h 606722"/>
                <a:gd name="connsiteX61" fmla="*/ 163562 w 571362"/>
                <a:gd name="connsiteY61" fmla="*/ 257254 h 606722"/>
                <a:gd name="connsiteX62" fmla="*/ 202102 w 571362"/>
                <a:gd name="connsiteY62" fmla="*/ 227926 h 606722"/>
                <a:gd name="connsiteX63" fmla="*/ 285680 w 571362"/>
                <a:gd name="connsiteY63" fmla="*/ 173803 h 606722"/>
                <a:gd name="connsiteX64" fmla="*/ 384914 w 571362"/>
                <a:gd name="connsiteY64" fmla="*/ 125113 h 606722"/>
                <a:gd name="connsiteX65" fmla="*/ 403524 w 571362"/>
                <a:gd name="connsiteY65" fmla="*/ 212685 h 606722"/>
                <a:gd name="connsiteX66" fmla="*/ 388387 w 571362"/>
                <a:gd name="connsiteY66" fmla="*/ 201572 h 606722"/>
                <a:gd name="connsiteX67" fmla="*/ 318846 w 571362"/>
                <a:gd name="connsiteY67" fmla="*/ 155608 h 606722"/>
                <a:gd name="connsiteX68" fmla="*/ 384914 w 571362"/>
                <a:gd name="connsiteY68" fmla="*/ 125113 h 606722"/>
                <a:gd name="connsiteX69" fmla="*/ 186504 w 571362"/>
                <a:gd name="connsiteY69" fmla="*/ 125113 h 606722"/>
                <a:gd name="connsiteX70" fmla="*/ 252443 w 571362"/>
                <a:gd name="connsiteY70" fmla="*/ 155608 h 606722"/>
                <a:gd name="connsiteX71" fmla="*/ 183034 w 571362"/>
                <a:gd name="connsiteY71" fmla="*/ 201572 h 606722"/>
                <a:gd name="connsiteX72" fmla="*/ 167906 w 571362"/>
                <a:gd name="connsiteY72" fmla="*/ 212685 h 606722"/>
                <a:gd name="connsiteX73" fmla="*/ 186504 w 571362"/>
                <a:gd name="connsiteY73" fmla="*/ 125113 h 606722"/>
                <a:gd name="connsiteX74" fmla="*/ 513359 w 571362"/>
                <a:gd name="connsiteY74" fmla="*/ 94417 h 606722"/>
                <a:gd name="connsiteX75" fmla="*/ 561602 w 571362"/>
                <a:gd name="connsiteY75" fmla="*/ 108100 h 606722"/>
                <a:gd name="connsiteX76" fmla="*/ 571215 w 571362"/>
                <a:gd name="connsiteY76" fmla="*/ 137863 h 606722"/>
                <a:gd name="connsiteX77" fmla="*/ 483987 w 571362"/>
                <a:gd name="connsiteY77" fmla="*/ 280286 h 606722"/>
                <a:gd name="connsiteX78" fmla="*/ 439304 w 571362"/>
                <a:gd name="connsiteY78" fmla="*/ 240838 h 606722"/>
                <a:gd name="connsiteX79" fmla="*/ 415450 w 571362"/>
                <a:gd name="connsiteY79" fmla="*/ 113875 h 606722"/>
                <a:gd name="connsiteX80" fmla="*/ 427733 w 571362"/>
                <a:gd name="connsiteY80" fmla="*/ 109876 h 606722"/>
                <a:gd name="connsiteX81" fmla="*/ 513359 w 571362"/>
                <a:gd name="connsiteY81" fmla="*/ 94417 h 606722"/>
                <a:gd name="connsiteX82" fmla="*/ 57990 w 571362"/>
                <a:gd name="connsiteY82" fmla="*/ 94417 h 606722"/>
                <a:gd name="connsiteX83" fmla="*/ 143715 w 571362"/>
                <a:gd name="connsiteY83" fmla="*/ 109876 h 606722"/>
                <a:gd name="connsiteX84" fmla="*/ 155911 w 571362"/>
                <a:gd name="connsiteY84" fmla="*/ 113875 h 606722"/>
                <a:gd name="connsiteX85" fmla="*/ 132143 w 571362"/>
                <a:gd name="connsiteY85" fmla="*/ 240838 h 606722"/>
                <a:gd name="connsiteX86" fmla="*/ 87455 w 571362"/>
                <a:gd name="connsiteY86" fmla="*/ 280286 h 606722"/>
                <a:gd name="connsiteX87" fmla="*/ 127 w 571362"/>
                <a:gd name="connsiteY87" fmla="*/ 137863 h 606722"/>
                <a:gd name="connsiteX88" fmla="*/ 9741 w 571362"/>
                <a:gd name="connsiteY88" fmla="*/ 108100 h 606722"/>
                <a:gd name="connsiteX89" fmla="*/ 57990 w 571362"/>
                <a:gd name="connsiteY89" fmla="*/ 94417 h 606722"/>
                <a:gd name="connsiteX90" fmla="*/ 285671 w 571362"/>
                <a:gd name="connsiteY90" fmla="*/ 0 h 606722"/>
                <a:gd name="connsiteX91" fmla="*/ 369717 w 571362"/>
                <a:gd name="connsiteY91" fmla="*/ 83918 h 606722"/>
                <a:gd name="connsiteX92" fmla="*/ 374169 w 571362"/>
                <a:gd name="connsiteY92" fmla="*/ 94496 h 606722"/>
                <a:gd name="connsiteX93" fmla="*/ 285671 w 571362"/>
                <a:gd name="connsiteY93" fmla="*/ 136544 h 606722"/>
                <a:gd name="connsiteX94" fmla="*/ 197262 w 571362"/>
                <a:gd name="connsiteY94" fmla="*/ 94496 h 606722"/>
                <a:gd name="connsiteX95" fmla="*/ 201625 w 571362"/>
                <a:gd name="connsiteY95" fmla="*/ 83918 h 606722"/>
                <a:gd name="connsiteX96" fmla="*/ 285671 w 571362"/>
                <a:gd name="connsiteY96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571362" h="606722">
                  <a:moveTo>
                    <a:pt x="285671" y="470107"/>
                  </a:moveTo>
                  <a:cubicBezTo>
                    <a:pt x="315586" y="486551"/>
                    <a:pt x="345412" y="500772"/>
                    <a:pt x="374169" y="512238"/>
                  </a:cubicBezTo>
                  <a:cubicBezTo>
                    <a:pt x="372744" y="515793"/>
                    <a:pt x="371231" y="519349"/>
                    <a:pt x="369717" y="522815"/>
                  </a:cubicBezTo>
                  <a:cubicBezTo>
                    <a:pt x="346391" y="576146"/>
                    <a:pt x="315764" y="606722"/>
                    <a:pt x="285671" y="606722"/>
                  </a:cubicBezTo>
                  <a:cubicBezTo>
                    <a:pt x="255667" y="606722"/>
                    <a:pt x="225040" y="576146"/>
                    <a:pt x="201625" y="522815"/>
                  </a:cubicBezTo>
                  <a:cubicBezTo>
                    <a:pt x="200111" y="519349"/>
                    <a:pt x="198687" y="515793"/>
                    <a:pt x="197262" y="512238"/>
                  </a:cubicBezTo>
                  <a:cubicBezTo>
                    <a:pt x="226019" y="500772"/>
                    <a:pt x="255756" y="486551"/>
                    <a:pt x="285671" y="470107"/>
                  </a:cubicBezTo>
                  <a:close/>
                  <a:moveTo>
                    <a:pt x="403524" y="393967"/>
                  </a:moveTo>
                  <a:cubicBezTo>
                    <a:pt x="399428" y="425262"/>
                    <a:pt x="393106" y="454778"/>
                    <a:pt x="384914" y="481539"/>
                  </a:cubicBezTo>
                  <a:cubicBezTo>
                    <a:pt x="363367" y="472915"/>
                    <a:pt x="341284" y="462691"/>
                    <a:pt x="318846" y="451044"/>
                  </a:cubicBezTo>
                  <a:cubicBezTo>
                    <a:pt x="342264" y="436997"/>
                    <a:pt x="365593" y="421617"/>
                    <a:pt x="388387" y="405169"/>
                  </a:cubicBezTo>
                  <a:cubicBezTo>
                    <a:pt x="393462" y="401435"/>
                    <a:pt x="398538" y="397701"/>
                    <a:pt x="403524" y="393967"/>
                  </a:cubicBezTo>
                  <a:close/>
                  <a:moveTo>
                    <a:pt x="167906" y="393967"/>
                  </a:moveTo>
                  <a:cubicBezTo>
                    <a:pt x="172800" y="397701"/>
                    <a:pt x="177872" y="401435"/>
                    <a:pt x="183034" y="405169"/>
                  </a:cubicBezTo>
                  <a:cubicBezTo>
                    <a:pt x="205814" y="421617"/>
                    <a:pt x="229129" y="436997"/>
                    <a:pt x="252443" y="451044"/>
                  </a:cubicBezTo>
                  <a:cubicBezTo>
                    <a:pt x="230107" y="462691"/>
                    <a:pt x="208039" y="472915"/>
                    <a:pt x="186504" y="481539"/>
                  </a:cubicBezTo>
                  <a:cubicBezTo>
                    <a:pt x="178228" y="454778"/>
                    <a:pt x="171999" y="425262"/>
                    <a:pt x="167906" y="393967"/>
                  </a:cubicBezTo>
                  <a:close/>
                  <a:moveTo>
                    <a:pt x="483987" y="326436"/>
                  </a:moveTo>
                  <a:cubicBezTo>
                    <a:pt x="535879" y="380371"/>
                    <a:pt x="568723" y="432263"/>
                    <a:pt x="571215" y="468871"/>
                  </a:cubicBezTo>
                  <a:cubicBezTo>
                    <a:pt x="572105" y="481844"/>
                    <a:pt x="568990" y="491618"/>
                    <a:pt x="561602" y="498549"/>
                  </a:cubicBezTo>
                  <a:cubicBezTo>
                    <a:pt x="541842" y="517386"/>
                    <a:pt x="491730" y="516764"/>
                    <a:pt x="427733" y="496860"/>
                  </a:cubicBezTo>
                  <a:cubicBezTo>
                    <a:pt x="423728" y="495616"/>
                    <a:pt x="419633" y="494284"/>
                    <a:pt x="415450" y="492862"/>
                  </a:cubicBezTo>
                  <a:cubicBezTo>
                    <a:pt x="427377" y="454654"/>
                    <a:pt x="435477" y="411559"/>
                    <a:pt x="439304" y="365888"/>
                  </a:cubicBezTo>
                  <a:cubicBezTo>
                    <a:pt x="455148" y="352826"/>
                    <a:pt x="470101" y="339587"/>
                    <a:pt x="483987" y="326436"/>
                  </a:cubicBezTo>
                  <a:close/>
                  <a:moveTo>
                    <a:pt x="87462" y="326436"/>
                  </a:moveTo>
                  <a:cubicBezTo>
                    <a:pt x="101348" y="339590"/>
                    <a:pt x="116301" y="352833"/>
                    <a:pt x="132145" y="365899"/>
                  </a:cubicBezTo>
                  <a:cubicBezTo>
                    <a:pt x="135972" y="411583"/>
                    <a:pt x="144072" y="454689"/>
                    <a:pt x="155910" y="492907"/>
                  </a:cubicBezTo>
                  <a:cubicBezTo>
                    <a:pt x="151816" y="494329"/>
                    <a:pt x="147721" y="495663"/>
                    <a:pt x="143716" y="496907"/>
                  </a:cubicBezTo>
                  <a:cubicBezTo>
                    <a:pt x="79630" y="516816"/>
                    <a:pt x="29607" y="517527"/>
                    <a:pt x="9758" y="498596"/>
                  </a:cubicBezTo>
                  <a:cubicBezTo>
                    <a:pt x="2459" y="491663"/>
                    <a:pt x="-745" y="481886"/>
                    <a:pt x="145" y="468910"/>
                  </a:cubicBezTo>
                  <a:cubicBezTo>
                    <a:pt x="2637" y="432292"/>
                    <a:pt x="35481" y="380386"/>
                    <a:pt x="87462" y="326436"/>
                  </a:cubicBezTo>
                  <a:close/>
                  <a:moveTo>
                    <a:pt x="441700" y="285931"/>
                  </a:moveTo>
                  <a:cubicBezTo>
                    <a:pt x="448206" y="291708"/>
                    <a:pt x="454622" y="297574"/>
                    <a:pt x="460682" y="303352"/>
                  </a:cubicBezTo>
                  <a:cubicBezTo>
                    <a:pt x="454622" y="309218"/>
                    <a:pt x="448206" y="314995"/>
                    <a:pt x="441700" y="320861"/>
                  </a:cubicBezTo>
                  <a:cubicBezTo>
                    <a:pt x="441878" y="314995"/>
                    <a:pt x="441878" y="309218"/>
                    <a:pt x="441878" y="303352"/>
                  </a:cubicBezTo>
                  <a:cubicBezTo>
                    <a:pt x="441878" y="297574"/>
                    <a:pt x="441878" y="291708"/>
                    <a:pt x="441700" y="285931"/>
                  </a:cubicBezTo>
                  <a:close/>
                  <a:moveTo>
                    <a:pt x="129660" y="285931"/>
                  </a:moveTo>
                  <a:cubicBezTo>
                    <a:pt x="129571" y="291708"/>
                    <a:pt x="129482" y="297574"/>
                    <a:pt x="129482" y="303352"/>
                  </a:cubicBezTo>
                  <a:cubicBezTo>
                    <a:pt x="129482" y="309218"/>
                    <a:pt x="129571" y="314995"/>
                    <a:pt x="129660" y="320861"/>
                  </a:cubicBezTo>
                  <a:cubicBezTo>
                    <a:pt x="123154" y="314995"/>
                    <a:pt x="116827" y="309218"/>
                    <a:pt x="110678" y="303352"/>
                  </a:cubicBezTo>
                  <a:cubicBezTo>
                    <a:pt x="116827" y="297574"/>
                    <a:pt x="123154" y="291708"/>
                    <a:pt x="129660" y="285931"/>
                  </a:cubicBezTo>
                  <a:close/>
                  <a:moveTo>
                    <a:pt x="285715" y="279439"/>
                  </a:moveTo>
                  <a:cubicBezTo>
                    <a:pt x="298946" y="279439"/>
                    <a:pt x="309672" y="290165"/>
                    <a:pt x="309672" y="303396"/>
                  </a:cubicBezTo>
                  <a:cubicBezTo>
                    <a:pt x="309672" y="316627"/>
                    <a:pt x="298946" y="327353"/>
                    <a:pt x="285715" y="327353"/>
                  </a:cubicBezTo>
                  <a:cubicBezTo>
                    <a:pt x="272484" y="327353"/>
                    <a:pt x="261758" y="316627"/>
                    <a:pt x="261758" y="303396"/>
                  </a:cubicBezTo>
                  <a:cubicBezTo>
                    <a:pt x="261758" y="290165"/>
                    <a:pt x="272484" y="279439"/>
                    <a:pt x="285715" y="279439"/>
                  </a:cubicBezTo>
                  <a:close/>
                  <a:moveTo>
                    <a:pt x="285680" y="246856"/>
                  </a:moveTo>
                  <a:cubicBezTo>
                    <a:pt x="254527" y="246856"/>
                    <a:pt x="229160" y="272185"/>
                    <a:pt x="229160" y="303291"/>
                  </a:cubicBezTo>
                  <a:cubicBezTo>
                    <a:pt x="229160" y="334485"/>
                    <a:pt x="254527" y="359814"/>
                    <a:pt x="285680" y="359814"/>
                  </a:cubicBezTo>
                  <a:cubicBezTo>
                    <a:pt x="316921" y="359814"/>
                    <a:pt x="342288" y="334485"/>
                    <a:pt x="342288" y="303291"/>
                  </a:cubicBezTo>
                  <a:cubicBezTo>
                    <a:pt x="342288" y="272185"/>
                    <a:pt x="316921" y="246856"/>
                    <a:pt x="285680" y="246856"/>
                  </a:cubicBezTo>
                  <a:close/>
                  <a:moveTo>
                    <a:pt x="285680" y="173803"/>
                  </a:moveTo>
                  <a:cubicBezTo>
                    <a:pt x="313717" y="189978"/>
                    <a:pt x="341843" y="208108"/>
                    <a:pt x="369346" y="227926"/>
                  </a:cubicBezTo>
                  <a:cubicBezTo>
                    <a:pt x="382608" y="237525"/>
                    <a:pt x="395514" y="247301"/>
                    <a:pt x="407886" y="257254"/>
                  </a:cubicBezTo>
                  <a:cubicBezTo>
                    <a:pt x="408865" y="272363"/>
                    <a:pt x="409310" y="287738"/>
                    <a:pt x="409310" y="303291"/>
                  </a:cubicBezTo>
                  <a:cubicBezTo>
                    <a:pt x="409310" y="318843"/>
                    <a:pt x="408865" y="334218"/>
                    <a:pt x="407886" y="349327"/>
                  </a:cubicBezTo>
                  <a:cubicBezTo>
                    <a:pt x="395514" y="359280"/>
                    <a:pt x="382608" y="369145"/>
                    <a:pt x="369346" y="378743"/>
                  </a:cubicBezTo>
                  <a:cubicBezTo>
                    <a:pt x="341843" y="398562"/>
                    <a:pt x="313717" y="416692"/>
                    <a:pt x="285680" y="432778"/>
                  </a:cubicBezTo>
                  <a:cubicBezTo>
                    <a:pt x="257642" y="416692"/>
                    <a:pt x="229605" y="398562"/>
                    <a:pt x="202102" y="378743"/>
                  </a:cubicBezTo>
                  <a:cubicBezTo>
                    <a:pt x="188840" y="369145"/>
                    <a:pt x="175934" y="359280"/>
                    <a:pt x="163562" y="349327"/>
                  </a:cubicBezTo>
                  <a:cubicBezTo>
                    <a:pt x="162583" y="334218"/>
                    <a:pt x="162049" y="318843"/>
                    <a:pt x="162049" y="303291"/>
                  </a:cubicBezTo>
                  <a:cubicBezTo>
                    <a:pt x="162049" y="287738"/>
                    <a:pt x="162583" y="272363"/>
                    <a:pt x="163562" y="257254"/>
                  </a:cubicBezTo>
                  <a:cubicBezTo>
                    <a:pt x="175934" y="247301"/>
                    <a:pt x="188840" y="237525"/>
                    <a:pt x="202102" y="227926"/>
                  </a:cubicBezTo>
                  <a:cubicBezTo>
                    <a:pt x="229605" y="208108"/>
                    <a:pt x="257642" y="189978"/>
                    <a:pt x="285680" y="173803"/>
                  </a:cubicBezTo>
                  <a:close/>
                  <a:moveTo>
                    <a:pt x="384914" y="125113"/>
                  </a:moveTo>
                  <a:cubicBezTo>
                    <a:pt x="393106" y="151962"/>
                    <a:pt x="399428" y="181479"/>
                    <a:pt x="403524" y="212685"/>
                  </a:cubicBezTo>
                  <a:cubicBezTo>
                    <a:pt x="398538" y="208951"/>
                    <a:pt x="393462" y="205306"/>
                    <a:pt x="388387" y="201572"/>
                  </a:cubicBezTo>
                  <a:cubicBezTo>
                    <a:pt x="365503" y="185124"/>
                    <a:pt x="342264" y="169744"/>
                    <a:pt x="318846" y="155608"/>
                  </a:cubicBezTo>
                  <a:cubicBezTo>
                    <a:pt x="341284" y="144050"/>
                    <a:pt x="363367" y="133826"/>
                    <a:pt x="384914" y="125113"/>
                  </a:cubicBezTo>
                  <a:close/>
                  <a:moveTo>
                    <a:pt x="186504" y="125113"/>
                  </a:moveTo>
                  <a:cubicBezTo>
                    <a:pt x="208039" y="133826"/>
                    <a:pt x="230107" y="144050"/>
                    <a:pt x="252443" y="155608"/>
                  </a:cubicBezTo>
                  <a:cubicBezTo>
                    <a:pt x="229129" y="169744"/>
                    <a:pt x="205814" y="185124"/>
                    <a:pt x="183034" y="201572"/>
                  </a:cubicBezTo>
                  <a:cubicBezTo>
                    <a:pt x="177872" y="205306"/>
                    <a:pt x="172800" y="208951"/>
                    <a:pt x="167906" y="212685"/>
                  </a:cubicBezTo>
                  <a:cubicBezTo>
                    <a:pt x="171999" y="181479"/>
                    <a:pt x="178228" y="151962"/>
                    <a:pt x="186504" y="125113"/>
                  </a:cubicBezTo>
                  <a:close/>
                  <a:moveTo>
                    <a:pt x="513359" y="94417"/>
                  </a:moveTo>
                  <a:cubicBezTo>
                    <a:pt x="535344" y="94417"/>
                    <a:pt x="551989" y="98948"/>
                    <a:pt x="561602" y="108100"/>
                  </a:cubicBezTo>
                  <a:cubicBezTo>
                    <a:pt x="568990" y="115118"/>
                    <a:pt x="572105" y="124803"/>
                    <a:pt x="571215" y="137863"/>
                  </a:cubicBezTo>
                  <a:cubicBezTo>
                    <a:pt x="568723" y="174380"/>
                    <a:pt x="535879" y="226356"/>
                    <a:pt x="483987" y="280286"/>
                  </a:cubicBezTo>
                  <a:cubicBezTo>
                    <a:pt x="470101" y="267048"/>
                    <a:pt x="455148" y="253898"/>
                    <a:pt x="439304" y="240838"/>
                  </a:cubicBezTo>
                  <a:cubicBezTo>
                    <a:pt x="435477" y="195170"/>
                    <a:pt x="427377" y="151990"/>
                    <a:pt x="415450" y="113875"/>
                  </a:cubicBezTo>
                  <a:cubicBezTo>
                    <a:pt x="419633" y="112453"/>
                    <a:pt x="423728" y="111120"/>
                    <a:pt x="427733" y="109876"/>
                  </a:cubicBezTo>
                  <a:cubicBezTo>
                    <a:pt x="460755" y="99570"/>
                    <a:pt x="490039" y="94417"/>
                    <a:pt x="513359" y="94417"/>
                  </a:cubicBezTo>
                  <a:close/>
                  <a:moveTo>
                    <a:pt x="57990" y="94417"/>
                  </a:moveTo>
                  <a:cubicBezTo>
                    <a:pt x="81402" y="94417"/>
                    <a:pt x="110689" y="99570"/>
                    <a:pt x="143715" y="109876"/>
                  </a:cubicBezTo>
                  <a:cubicBezTo>
                    <a:pt x="147721" y="111120"/>
                    <a:pt x="151816" y="112453"/>
                    <a:pt x="155911" y="113875"/>
                  </a:cubicBezTo>
                  <a:cubicBezTo>
                    <a:pt x="144071" y="151990"/>
                    <a:pt x="135971" y="195170"/>
                    <a:pt x="132143" y="240838"/>
                  </a:cubicBezTo>
                  <a:cubicBezTo>
                    <a:pt x="116297" y="253898"/>
                    <a:pt x="101342" y="267048"/>
                    <a:pt x="87455" y="280286"/>
                  </a:cubicBezTo>
                  <a:cubicBezTo>
                    <a:pt x="35468" y="226356"/>
                    <a:pt x="2620" y="174380"/>
                    <a:pt x="127" y="137863"/>
                  </a:cubicBezTo>
                  <a:cubicBezTo>
                    <a:pt x="-674" y="124803"/>
                    <a:pt x="2442" y="115118"/>
                    <a:pt x="9741" y="108100"/>
                  </a:cubicBezTo>
                  <a:cubicBezTo>
                    <a:pt x="19355" y="98948"/>
                    <a:pt x="36091" y="94417"/>
                    <a:pt x="57990" y="94417"/>
                  </a:cubicBezTo>
                  <a:close/>
                  <a:moveTo>
                    <a:pt x="285671" y="0"/>
                  </a:moveTo>
                  <a:cubicBezTo>
                    <a:pt x="315764" y="0"/>
                    <a:pt x="346391" y="30580"/>
                    <a:pt x="369717" y="83918"/>
                  </a:cubicBezTo>
                  <a:cubicBezTo>
                    <a:pt x="371231" y="87385"/>
                    <a:pt x="372744" y="90852"/>
                    <a:pt x="374169" y="94496"/>
                  </a:cubicBezTo>
                  <a:cubicBezTo>
                    <a:pt x="345412" y="105964"/>
                    <a:pt x="315586" y="120098"/>
                    <a:pt x="285671" y="136544"/>
                  </a:cubicBezTo>
                  <a:cubicBezTo>
                    <a:pt x="255756" y="120098"/>
                    <a:pt x="226019" y="105964"/>
                    <a:pt x="197262" y="94496"/>
                  </a:cubicBezTo>
                  <a:cubicBezTo>
                    <a:pt x="198687" y="90852"/>
                    <a:pt x="200111" y="87296"/>
                    <a:pt x="201625" y="83918"/>
                  </a:cubicBezTo>
                  <a:cubicBezTo>
                    <a:pt x="225040" y="30580"/>
                    <a:pt x="255667" y="0"/>
                    <a:pt x="2856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 dirty="0"/>
            </a:p>
          </p:txBody>
        </p:sp>
      </p:grpSp>
      <p:sp>
        <p:nvSpPr>
          <p:cNvPr id="31" name="椭圆 30">
            <a:extLst>
              <a:ext uri="{FF2B5EF4-FFF2-40B4-BE49-F238E27FC236}">
                <a16:creationId xmlns:a16="http://schemas.microsoft.com/office/drawing/2014/main" id="{07710E4E-9333-D145-EE83-8B68B353D136}"/>
              </a:ext>
            </a:extLst>
          </p:cNvPr>
          <p:cNvSpPr/>
          <p:nvPr/>
        </p:nvSpPr>
        <p:spPr>
          <a:xfrm>
            <a:off x="1979421" y="3429000"/>
            <a:ext cx="141097" cy="14109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4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6A758C9-A77E-1C87-F8F7-CCBD1DE25791}"/>
              </a:ext>
            </a:extLst>
          </p:cNvPr>
          <p:cNvSpPr txBox="1"/>
          <p:nvPr/>
        </p:nvSpPr>
        <p:spPr>
          <a:xfrm>
            <a:off x="2292286" y="2810436"/>
            <a:ext cx="206627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</a:rPr>
              <a:t>05.</a:t>
            </a: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</a:rPr>
              <a:t> 文体活动类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5B5322F-8B40-8106-95D8-51F576805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dirty="0">
                <a:latin typeface="+mj-ea"/>
                <a:sym typeface="+mn-ea"/>
              </a:rPr>
              <a:t>01 </a:t>
            </a:r>
            <a:r>
              <a:rPr lang="zh-CN" altLang="en-US" dirty="0">
                <a:latin typeface="+mj-ea"/>
                <a:sym typeface="+mn-ea"/>
              </a:rPr>
              <a:t>课程项目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553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C9960-74E7-530C-CE76-C29614C8E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2E7BFF-3C66-CFB6-B54B-40B91046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02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记录评价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5F511C-9374-2368-8200-DB4008F9A93B}"/>
              </a:ext>
            </a:extLst>
          </p:cNvPr>
          <p:cNvSpPr txBox="1"/>
          <p:nvPr/>
        </p:nvSpPr>
        <p:spPr>
          <a:xfrm>
            <a:off x="4325978" y="1252766"/>
            <a:ext cx="3540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1</a:t>
            </a:r>
            <a:r>
              <a:rPr lang="zh-CN" altLang="en-US" sz="4000" dirty="0"/>
              <a:t>学分</a:t>
            </a:r>
            <a:r>
              <a:rPr lang="en-US" altLang="zh-CN" sz="4000" dirty="0"/>
              <a:t>=20</a:t>
            </a:r>
            <a:r>
              <a:rPr lang="zh-CN" altLang="en-US" sz="4000" dirty="0"/>
              <a:t>绩点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A0639E-D623-5E84-70AB-5EBA345420E5}"/>
              </a:ext>
            </a:extLst>
          </p:cNvPr>
          <p:cNvSpPr txBox="1"/>
          <p:nvPr/>
        </p:nvSpPr>
        <p:spPr>
          <a:xfrm>
            <a:off x="2029089" y="1960652"/>
            <a:ext cx="8133812" cy="4229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/>
              <a:t>        凡学校全日制本科学生在校期间必须取得</a:t>
            </a:r>
            <a:r>
              <a:rPr lang="en-US" altLang="zh-CN" sz="2600" dirty="0">
                <a:solidFill>
                  <a:srgbClr val="FF0000"/>
                </a:solidFill>
              </a:rPr>
              <a:t>4</a:t>
            </a:r>
            <a:r>
              <a:rPr lang="zh-CN" altLang="en-US" sz="2600" dirty="0"/>
              <a:t>个第二课堂</a:t>
            </a:r>
            <a:r>
              <a:rPr lang="zh-CN" altLang="en-US" sz="2600" dirty="0">
                <a:solidFill>
                  <a:srgbClr val="FF0000"/>
                </a:solidFill>
              </a:rPr>
              <a:t>学分</a:t>
            </a:r>
            <a:r>
              <a:rPr lang="zh-CN" altLang="en-US" sz="2600" dirty="0"/>
              <a:t>（</a:t>
            </a:r>
            <a:r>
              <a:rPr lang="en-US" altLang="zh-CN" sz="2600" dirty="0">
                <a:solidFill>
                  <a:srgbClr val="FF0000"/>
                </a:solidFill>
              </a:rPr>
              <a:t>80</a:t>
            </a:r>
            <a:r>
              <a:rPr lang="zh-CN" altLang="en-US" sz="2600" dirty="0">
                <a:solidFill>
                  <a:srgbClr val="FF0000"/>
                </a:solidFill>
              </a:rPr>
              <a:t>绩点</a:t>
            </a:r>
            <a:r>
              <a:rPr lang="zh-CN" altLang="en-US" sz="2600" dirty="0"/>
              <a:t>）；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en-US" altLang="zh-CN" sz="2600" dirty="0"/>
              <a:t>     </a:t>
            </a:r>
            <a:r>
              <a:rPr lang="zh-CN" altLang="en-US" sz="2600" dirty="0"/>
              <a:t>“思想成长类”课程至少获得</a:t>
            </a:r>
            <a:r>
              <a:rPr lang="en-US" altLang="zh-CN" sz="2600" dirty="0">
                <a:solidFill>
                  <a:srgbClr val="FF0000"/>
                </a:solidFill>
              </a:rPr>
              <a:t>1</a:t>
            </a:r>
            <a:r>
              <a:rPr lang="zh-CN" altLang="en-US" sz="2600" dirty="0">
                <a:solidFill>
                  <a:srgbClr val="FF0000"/>
                </a:solidFill>
              </a:rPr>
              <a:t>学分</a:t>
            </a:r>
            <a:r>
              <a:rPr lang="zh-CN" altLang="en-US" sz="2600" dirty="0"/>
              <a:t>（</a:t>
            </a:r>
            <a:r>
              <a:rPr lang="en-US" altLang="zh-CN" sz="2600" dirty="0">
                <a:solidFill>
                  <a:srgbClr val="FF0000"/>
                </a:solidFill>
              </a:rPr>
              <a:t>20</a:t>
            </a:r>
            <a:r>
              <a:rPr lang="zh-CN" altLang="en-US" sz="2600" dirty="0">
                <a:solidFill>
                  <a:srgbClr val="FF0000"/>
                </a:solidFill>
              </a:rPr>
              <a:t>绩点</a:t>
            </a:r>
            <a:r>
              <a:rPr lang="zh-CN" altLang="en-US" sz="2600" dirty="0"/>
              <a:t>），其他类课程至少获得 </a:t>
            </a:r>
            <a:r>
              <a:rPr lang="en-US" altLang="zh-CN" sz="2600" dirty="0">
                <a:solidFill>
                  <a:srgbClr val="FF0000"/>
                </a:solidFill>
              </a:rPr>
              <a:t>0.4</a:t>
            </a:r>
            <a:r>
              <a:rPr lang="zh-CN" altLang="en-US" sz="2600" dirty="0">
                <a:solidFill>
                  <a:srgbClr val="FF0000"/>
                </a:solidFill>
              </a:rPr>
              <a:t>学分</a:t>
            </a:r>
            <a:r>
              <a:rPr lang="zh-CN" altLang="en-US" sz="2600" dirty="0"/>
              <a:t>（</a:t>
            </a:r>
            <a:r>
              <a:rPr lang="en-US" altLang="zh-CN" sz="2600" dirty="0">
                <a:solidFill>
                  <a:srgbClr val="FF0000"/>
                </a:solidFill>
              </a:rPr>
              <a:t>8</a:t>
            </a:r>
            <a:r>
              <a:rPr lang="zh-CN" altLang="en-US" sz="2600" dirty="0">
                <a:solidFill>
                  <a:srgbClr val="FF0000"/>
                </a:solidFill>
              </a:rPr>
              <a:t>绩点</a:t>
            </a:r>
            <a:r>
              <a:rPr lang="zh-CN" altLang="en-US" sz="2600" dirty="0"/>
              <a:t>）。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zh-CN" altLang="en-US" sz="2600" dirty="0"/>
              <a:t>        学生原则上应在</a:t>
            </a:r>
            <a:r>
              <a:rPr lang="zh-CN" altLang="en-US" sz="2600" dirty="0">
                <a:solidFill>
                  <a:srgbClr val="FF0000"/>
                </a:solidFill>
              </a:rPr>
              <a:t>第三学年</a:t>
            </a:r>
            <a:r>
              <a:rPr lang="zh-CN" altLang="en-US" sz="2600" dirty="0"/>
              <a:t>结束时完成第二课堂学分，且原则上每学期修完的第二课堂学分</a:t>
            </a:r>
            <a:r>
              <a:rPr lang="zh-CN" altLang="en-US" sz="2600" dirty="0">
                <a:solidFill>
                  <a:srgbClr val="FF0000"/>
                </a:solidFill>
              </a:rPr>
              <a:t>不低于</a:t>
            </a:r>
            <a:r>
              <a:rPr lang="en-US" altLang="zh-CN" sz="2600" dirty="0">
                <a:solidFill>
                  <a:srgbClr val="FF0000"/>
                </a:solidFill>
              </a:rPr>
              <a:t>0.5</a:t>
            </a:r>
            <a:r>
              <a:rPr lang="zh-CN" altLang="en-US" sz="2600" dirty="0">
                <a:solidFill>
                  <a:srgbClr val="FF0000"/>
                </a:solidFill>
              </a:rPr>
              <a:t>学分</a:t>
            </a:r>
            <a:r>
              <a:rPr lang="zh-CN" altLang="en-US" sz="2600" dirty="0"/>
              <a:t>（</a:t>
            </a:r>
            <a:r>
              <a:rPr lang="en-US" altLang="zh-CN" sz="2600" dirty="0">
                <a:solidFill>
                  <a:srgbClr val="FF0000"/>
                </a:solidFill>
              </a:rPr>
              <a:t>10</a:t>
            </a:r>
            <a:r>
              <a:rPr lang="zh-CN" altLang="en-US" sz="2600" dirty="0">
                <a:solidFill>
                  <a:srgbClr val="FF0000"/>
                </a:solidFill>
              </a:rPr>
              <a:t>绩点</a:t>
            </a:r>
            <a:r>
              <a:rPr lang="zh-CN" altLang="en-US" sz="2600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069909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6083-569F-A225-3482-63D15DEB8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A1A1CA64-6369-4F97-6B8E-EE582566125B}"/>
              </a:ext>
            </a:extLst>
          </p:cNvPr>
          <p:cNvSpPr txBox="1"/>
          <p:nvPr/>
        </p:nvSpPr>
        <p:spPr>
          <a:xfrm>
            <a:off x="1747926" y="1941900"/>
            <a:ext cx="3593933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3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54D7B3C-0099-7897-5C07-04DBBAFB1F5C}"/>
              </a:ext>
            </a:extLst>
          </p:cNvPr>
          <p:cNvSpPr/>
          <p:nvPr/>
        </p:nvSpPr>
        <p:spPr>
          <a:xfrm>
            <a:off x="108974" y="3426553"/>
            <a:ext cx="2840703" cy="6949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586784E-F9A8-70BD-0EF4-65D597E00193}"/>
              </a:ext>
            </a:extLst>
          </p:cNvPr>
          <p:cNvSpPr txBox="1"/>
          <p:nvPr/>
        </p:nvSpPr>
        <p:spPr>
          <a:xfrm>
            <a:off x="1192980" y="3596199"/>
            <a:ext cx="1391215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bg1"/>
                </a:solidFill>
              </a:rPr>
              <a:t>PART TWO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56A3C85-BAFB-D513-9569-6A09F449F981}"/>
              </a:ext>
            </a:extLst>
          </p:cNvPr>
          <p:cNvSpPr txBox="1"/>
          <p:nvPr/>
        </p:nvSpPr>
        <p:spPr>
          <a:xfrm>
            <a:off x="5596600" y="2872555"/>
            <a:ext cx="5078313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学分认定细则</a:t>
            </a:r>
            <a:endParaRPr kumimoji="1" lang="zh-CN" altLang="en-US" sz="66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1542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C3DFB-6926-0292-DEA9-291076E5C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7C006-C7C9-3FF2-4A76-E62CC944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01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思想成长类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745753E-6C8D-006E-5657-14924CB5F803}"/>
              </a:ext>
            </a:extLst>
          </p:cNvPr>
          <p:cNvGrpSpPr/>
          <p:nvPr/>
        </p:nvGrpSpPr>
        <p:grpSpPr>
          <a:xfrm>
            <a:off x="515308" y="1548578"/>
            <a:ext cx="5848350" cy="3818844"/>
            <a:chOff x="968556" y="1571625"/>
            <a:chExt cx="5848350" cy="3818844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B5142BF-4E01-6F67-0EA4-5DDB34D23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8556" y="1571625"/>
              <a:ext cx="5848350" cy="1857375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FF41904-B68D-AAF8-4D53-613B7D1E1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60"/>
            <a:stretch/>
          </p:blipFill>
          <p:spPr>
            <a:xfrm>
              <a:off x="968556" y="3209244"/>
              <a:ext cx="5848350" cy="2181225"/>
            </a:xfrm>
            <a:prstGeom prst="rect">
              <a:avLst/>
            </a:prstGeom>
          </p:spPr>
        </p:pic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E48D7D-C6A2-8CC4-4659-39BE65A22FF6}"/>
              </a:ext>
            </a:extLst>
          </p:cNvPr>
          <p:cNvCxnSpPr>
            <a:cxnSpLocks/>
          </p:cNvCxnSpPr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8FADCF4-3A5D-7A69-40C2-5970C7EA67C7}"/>
              </a:ext>
            </a:extLst>
          </p:cNvPr>
          <p:cNvSpPr txBox="1"/>
          <p:nvPr/>
        </p:nvSpPr>
        <p:spPr>
          <a:xfrm>
            <a:off x="6890427" y="3152807"/>
            <a:ext cx="4145280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</a:rPr>
              <a:t>青年大学习</a:t>
            </a:r>
            <a:r>
              <a:rPr lang="zh-CN" altLang="en-US" sz="2000" dirty="0"/>
              <a:t>参与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  <a:r>
              <a:rPr lang="zh-CN" altLang="en-US" sz="2000" dirty="0"/>
              <a:t>加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绩点</a:t>
            </a:r>
          </a:p>
        </p:txBody>
      </p:sp>
    </p:spTree>
    <p:extLst>
      <p:ext uri="{BB962C8B-B14F-4D97-AF65-F5344CB8AC3E}">
        <p14:creationId xmlns:p14="http://schemas.microsoft.com/office/powerpoint/2010/main" val="43836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61599-51EC-7CBE-5E97-DCEBE8A15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CEC66-AD0E-1FDA-DA75-3F6F40AD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2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实践工作类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E542216-52C3-5858-BC82-6575DFB535C1}"/>
              </a:ext>
            </a:extLst>
          </p:cNvPr>
          <p:cNvCxnSpPr>
            <a:cxnSpLocks/>
          </p:cNvCxnSpPr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EF6A9433-6CAF-9C2A-0F60-CA5ABE651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97"/>
          <a:stretch/>
        </p:blipFill>
        <p:spPr>
          <a:xfrm>
            <a:off x="424635" y="1666875"/>
            <a:ext cx="6002292" cy="35242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67798B7-9925-DCBC-0EFB-7AB250008EC0}"/>
              </a:ext>
            </a:extLst>
          </p:cNvPr>
          <p:cNvSpPr txBox="1"/>
          <p:nvPr/>
        </p:nvSpPr>
        <p:spPr>
          <a:xfrm>
            <a:off x="6923315" y="1504648"/>
            <a:ext cx="4145280" cy="1428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① 寒暑期社会实践：</a:t>
            </a:r>
            <a:r>
              <a:rPr lang="zh-CN" altLang="en-US" sz="2000" dirty="0">
                <a:solidFill>
                  <a:srgbClr val="FF0000"/>
                </a:solidFill>
              </a:rPr>
              <a:t>团队</a:t>
            </a:r>
            <a:r>
              <a:rPr lang="zh-CN" altLang="en-US" sz="2000" dirty="0"/>
              <a:t>为单位一人次</a:t>
            </a:r>
            <a:r>
              <a:rPr lang="en-US" altLang="zh-CN" sz="2000" dirty="0">
                <a:solidFill>
                  <a:srgbClr val="FF0000"/>
                </a:solidFill>
              </a:rPr>
              <a:t>6</a:t>
            </a:r>
            <a:r>
              <a:rPr lang="zh-CN" altLang="en-US" sz="2000" dirty="0"/>
              <a:t>绩点，</a:t>
            </a:r>
            <a:r>
              <a:rPr lang="zh-CN" altLang="en-US" sz="2000" dirty="0">
                <a:solidFill>
                  <a:srgbClr val="FF0000"/>
                </a:solidFill>
              </a:rPr>
              <a:t>个人</a:t>
            </a:r>
            <a:r>
              <a:rPr lang="zh-CN" altLang="en-US" sz="2000" dirty="0"/>
              <a:t>为单位自主实践一人次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/>
              <a:t>绩点；</a:t>
            </a:r>
            <a:r>
              <a:rPr lang="zh-CN" altLang="en-US" sz="2000" dirty="0">
                <a:solidFill>
                  <a:srgbClr val="FF0000"/>
                </a:solidFill>
              </a:rPr>
              <a:t>一学期仅计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  <a:r>
              <a:rPr lang="zh-CN" altLang="en-US" sz="2000" dirty="0"/>
              <a:t>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00A115-0FDC-67F2-E9BD-D0F6402B3432}"/>
              </a:ext>
            </a:extLst>
          </p:cNvPr>
          <p:cNvSpPr txBox="1"/>
          <p:nvPr/>
        </p:nvSpPr>
        <p:spPr>
          <a:xfrm>
            <a:off x="6923315" y="2932859"/>
            <a:ext cx="414528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②学生干部：就</a:t>
            </a:r>
            <a:r>
              <a:rPr lang="zh-CN" altLang="en-US" sz="2000" dirty="0">
                <a:solidFill>
                  <a:srgbClr val="FF0000"/>
                </a:solidFill>
              </a:rPr>
              <a:t>最高一次</a:t>
            </a:r>
            <a:r>
              <a:rPr lang="zh-CN" altLang="en-US" sz="2000" dirty="0"/>
              <a:t>职务任职</a:t>
            </a:r>
            <a:r>
              <a:rPr lang="zh-CN" altLang="en-US" sz="2000" dirty="0">
                <a:solidFill>
                  <a:srgbClr val="FF0000"/>
                </a:solidFill>
              </a:rPr>
              <a:t>满一年</a:t>
            </a:r>
            <a:r>
              <a:rPr lang="zh-CN" altLang="en-US" sz="2000" dirty="0"/>
              <a:t>为准，</a:t>
            </a:r>
            <a:r>
              <a:rPr lang="zh-CN" altLang="en-US" sz="2000" dirty="0">
                <a:solidFill>
                  <a:srgbClr val="FF0000"/>
                </a:solidFill>
              </a:rPr>
              <a:t>整个大学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en-US" sz="2000" dirty="0">
                <a:solidFill>
                  <a:srgbClr val="FF0000"/>
                </a:solidFill>
              </a:rPr>
              <a:t>年</a:t>
            </a:r>
            <a:r>
              <a:rPr lang="zh-CN" altLang="en-US" sz="2000" dirty="0"/>
              <a:t>期间</a:t>
            </a:r>
            <a:r>
              <a:rPr lang="zh-CN" altLang="en-US" sz="2000" dirty="0">
                <a:solidFill>
                  <a:srgbClr val="FF0000"/>
                </a:solidFill>
              </a:rPr>
              <a:t>只计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  <a:r>
              <a:rPr lang="zh-CN" altLang="en-US" sz="2000" dirty="0"/>
              <a:t>绩点。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F1EC25-4D9D-33D1-6714-45FB11A969E5}"/>
              </a:ext>
            </a:extLst>
          </p:cNvPr>
          <p:cNvSpPr txBox="1"/>
          <p:nvPr/>
        </p:nvSpPr>
        <p:spPr>
          <a:xfrm>
            <a:off x="6923314" y="4333021"/>
            <a:ext cx="4293319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③其他社会实践实习：以实践实习工作</a:t>
            </a:r>
            <a:r>
              <a:rPr lang="zh-CN" altLang="en-US" sz="2000" dirty="0">
                <a:solidFill>
                  <a:srgbClr val="FF0000"/>
                </a:solidFill>
              </a:rPr>
              <a:t>时长</a:t>
            </a:r>
            <a:r>
              <a:rPr lang="zh-CN" altLang="en-US" sz="2000" dirty="0"/>
              <a:t>为分级标准，</a:t>
            </a:r>
            <a:r>
              <a:rPr lang="zh-CN" altLang="en-US" sz="2000" dirty="0">
                <a:solidFill>
                  <a:srgbClr val="FF0000"/>
                </a:solidFill>
              </a:rPr>
              <a:t>一学期</a:t>
            </a:r>
            <a:r>
              <a:rPr lang="zh-CN" altLang="en-US" sz="2000" dirty="0"/>
              <a:t>仅计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次</a:t>
            </a:r>
            <a:r>
              <a:rPr lang="zh-CN" altLang="en-US" sz="2000" dirty="0"/>
              <a:t>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CB8EEF-0037-E8F1-3A58-3671338A32AA}"/>
              </a:ext>
            </a:extLst>
          </p:cNvPr>
          <p:cNvSpPr/>
          <p:nvPr/>
        </p:nvSpPr>
        <p:spPr>
          <a:xfrm>
            <a:off x="526047" y="5527170"/>
            <a:ext cx="59282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8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旧实践实习类与社会工作类进行合并</a:t>
            </a:r>
          </a:p>
        </p:txBody>
      </p:sp>
    </p:spTree>
    <p:extLst>
      <p:ext uri="{BB962C8B-B14F-4D97-AF65-F5344CB8AC3E}">
        <p14:creationId xmlns:p14="http://schemas.microsoft.com/office/powerpoint/2010/main" val="351217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E05AE-6989-59E9-3C64-A58169760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26D98-75E1-C7F6-41F2-923FF21D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3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志愿公益类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CBD54A9-940D-E6E2-4B6E-F59F6A0574CC}"/>
              </a:ext>
            </a:extLst>
          </p:cNvPr>
          <p:cNvCxnSpPr>
            <a:cxnSpLocks/>
          </p:cNvCxnSpPr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A80F6C9D-67F0-0F75-4BD5-956EA617D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91" y="1551639"/>
            <a:ext cx="6029325" cy="37909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93E3E84-5E3E-04EA-F847-A77C5E3E5FF6}"/>
              </a:ext>
            </a:extLst>
          </p:cNvPr>
          <p:cNvSpPr txBox="1"/>
          <p:nvPr/>
        </p:nvSpPr>
        <p:spPr>
          <a:xfrm>
            <a:off x="6923315" y="1551639"/>
            <a:ext cx="4145280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① 注册志愿者：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zh-CN" altLang="en-US" sz="2000" dirty="0">
                <a:solidFill>
                  <a:srgbClr val="FF0000"/>
                </a:solidFill>
              </a:rPr>
              <a:t>绩点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FF0000"/>
                </a:solidFill>
              </a:rPr>
              <a:t>整个大学四年</a:t>
            </a:r>
            <a:r>
              <a:rPr lang="zh-CN" altLang="en-US" sz="2000" dirty="0"/>
              <a:t>仅计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/>
              <a:t>次。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2BB154-D18F-F0B0-1D57-1E8908699844}"/>
              </a:ext>
            </a:extLst>
          </p:cNvPr>
          <p:cNvSpPr txBox="1"/>
          <p:nvPr/>
        </p:nvSpPr>
        <p:spPr>
          <a:xfrm>
            <a:off x="6923315" y="2545792"/>
            <a:ext cx="4145280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②无偿献血：</a:t>
            </a:r>
            <a:r>
              <a:rPr lang="zh-CN" altLang="en-US" sz="2000" dirty="0">
                <a:solidFill>
                  <a:srgbClr val="FF0000"/>
                </a:solidFill>
              </a:rPr>
              <a:t>一次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>
                <a:solidFill>
                  <a:srgbClr val="FF0000"/>
                </a:solidFill>
              </a:rPr>
              <a:t>绩点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FF0000"/>
                </a:solidFill>
              </a:rPr>
              <a:t>一学期</a:t>
            </a:r>
            <a:r>
              <a:rPr lang="zh-CN" altLang="en-US" sz="2000" dirty="0"/>
              <a:t>最多计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zh-CN" altLang="en-US" sz="2000" dirty="0"/>
              <a:t>次。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477258-958A-A42B-37BA-B977FD5F7B6A}"/>
              </a:ext>
            </a:extLst>
          </p:cNvPr>
          <p:cNvSpPr txBox="1"/>
          <p:nvPr/>
        </p:nvSpPr>
        <p:spPr>
          <a:xfrm>
            <a:off x="6923314" y="3483219"/>
            <a:ext cx="4302033" cy="96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③志愿服务：以</a:t>
            </a:r>
            <a:r>
              <a:rPr lang="zh-CN" altLang="en-US" sz="2000" dirty="0">
                <a:solidFill>
                  <a:srgbClr val="FF0000"/>
                </a:solidFill>
              </a:rPr>
              <a:t>志愿服务时长</a:t>
            </a:r>
            <a:r>
              <a:rPr lang="zh-CN" altLang="en-US" sz="2000" dirty="0"/>
              <a:t>为分级标准，</a:t>
            </a:r>
            <a:r>
              <a:rPr lang="zh-CN" altLang="en-US" sz="2000" dirty="0">
                <a:solidFill>
                  <a:srgbClr val="FF0000"/>
                </a:solidFill>
              </a:rPr>
              <a:t>不包括寒暑假期间社会实践</a:t>
            </a:r>
            <a:r>
              <a:rPr lang="zh-CN" altLang="en-US" sz="2000" dirty="0"/>
              <a:t>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EF2AE2-A2E4-3A26-A3CB-9FD080E0C9B0}"/>
              </a:ext>
            </a:extLst>
          </p:cNvPr>
          <p:cNvSpPr txBox="1"/>
          <p:nvPr/>
        </p:nvSpPr>
        <p:spPr>
          <a:xfrm>
            <a:off x="6923314" y="4449766"/>
            <a:ext cx="4302033" cy="50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④志愿公益摆点活动：一次</a:t>
            </a:r>
            <a:r>
              <a:rPr lang="en-US" altLang="zh-CN" sz="2000" dirty="0"/>
              <a:t>1</a:t>
            </a:r>
            <a:r>
              <a:rPr lang="zh-CN" altLang="en-US" sz="2000" dirty="0"/>
              <a:t>绩点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686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6E976-26A5-1315-03FC-4867AF6F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6E5D5D-C33E-2870-4F70-3B86494B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4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创新创业类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A7AD455-682A-453C-B6CB-E9DAE3B8FCCF}"/>
              </a:ext>
            </a:extLst>
          </p:cNvPr>
          <p:cNvCxnSpPr>
            <a:cxnSpLocks/>
          </p:cNvCxnSpPr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B17593B-DAD4-6893-E372-73640BE8B6D6}"/>
              </a:ext>
            </a:extLst>
          </p:cNvPr>
          <p:cNvGrpSpPr/>
          <p:nvPr/>
        </p:nvGrpSpPr>
        <p:grpSpPr>
          <a:xfrm>
            <a:off x="756721" y="1445622"/>
            <a:ext cx="5664780" cy="4354794"/>
            <a:chOff x="774138" y="1297576"/>
            <a:chExt cx="5664780" cy="435479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FBE3073-FC99-6650-2CC7-E687119E1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406" t="4026" r="2673" b="10307"/>
            <a:stretch/>
          </p:blipFill>
          <p:spPr>
            <a:xfrm>
              <a:off x="801190" y="1297576"/>
              <a:ext cx="5582194" cy="1942012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C1C567E-B278-AD2A-AAFB-C9C1B28B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642" t="7425" r="1311"/>
            <a:stretch/>
          </p:blipFill>
          <p:spPr>
            <a:xfrm>
              <a:off x="774138" y="3178627"/>
              <a:ext cx="5664780" cy="2473743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E6EB03D1-4A54-783A-5337-44E662290022}"/>
              </a:ext>
            </a:extLst>
          </p:cNvPr>
          <p:cNvSpPr txBox="1"/>
          <p:nvPr/>
        </p:nvSpPr>
        <p:spPr>
          <a:xfrm>
            <a:off x="6923315" y="2672823"/>
            <a:ext cx="4145280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① </a:t>
            </a:r>
            <a:r>
              <a:rPr lang="zh-CN" altLang="en-US" sz="2000" dirty="0">
                <a:solidFill>
                  <a:srgbClr val="FF0000"/>
                </a:solidFill>
              </a:rPr>
              <a:t>参与</a:t>
            </a:r>
            <a:r>
              <a:rPr lang="zh-CN" altLang="en-US" sz="2000" dirty="0"/>
              <a:t>创新创业竞赛：根据创新创业竞赛</a:t>
            </a:r>
            <a:r>
              <a:rPr lang="zh-CN" altLang="en-US" sz="2000" dirty="0">
                <a:solidFill>
                  <a:srgbClr val="FF0000"/>
                </a:solidFill>
              </a:rPr>
              <a:t>赛事</a:t>
            </a:r>
            <a:r>
              <a:rPr lang="zh-CN" altLang="en-US" sz="2000" dirty="0"/>
              <a:t>以及赛事</a:t>
            </a:r>
            <a:r>
              <a:rPr lang="zh-CN" altLang="en-US" sz="2000" dirty="0">
                <a:solidFill>
                  <a:srgbClr val="FF0000"/>
                </a:solidFill>
              </a:rPr>
              <a:t>级别</a:t>
            </a:r>
            <a:r>
              <a:rPr lang="zh-CN" altLang="en-US" sz="2000" dirty="0"/>
              <a:t>和</a:t>
            </a:r>
            <a:r>
              <a:rPr lang="zh-CN" altLang="en-US" sz="2000" dirty="0">
                <a:solidFill>
                  <a:srgbClr val="FF0000"/>
                </a:solidFill>
              </a:rPr>
              <a:t>成员排名</a:t>
            </a:r>
            <a:r>
              <a:rPr lang="zh-CN" altLang="en-US" sz="2000" dirty="0"/>
              <a:t>进行绩点赋予。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366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FC49-6CB8-6127-0E72-CA90B700B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B0A02-7634-369B-8BF4-7A2B2CE4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4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创新创业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0D80B7C-C238-24AA-0BEE-C1E2CBBDBCB5}"/>
              </a:ext>
            </a:extLst>
          </p:cNvPr>
          <p:cNvCxnSpPr>
            <a:cxnSpLocks/>
          </p:cNvCxnSpPr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F6F3C9E-0664-D9E2-F6A6-9C4A4491C132}"/>
              </a:ext>
            </a:extLst>
          </p:cNvPr>
          <p:cNvGrpSpPr/>
          <p:nvPr/>
        </p:nvGrpSpPr>
        <p:grpSpPr>
          <a:xfrm>
            <a:off x="1213647" y="1069220"/>
            <a:ext cx="4445707" cy="5305454"/>
            <a:chOff x="1415599" y="1069220"/>
            <a:chExt cx="4078295" cy="484165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192A5A5-5BF7-2E58-1C95-BE7B2CFC2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5599" y="1069220"/>
              <a:ext cx="4078295" cy="4269134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EB4506C7-B271-5E02-942C-6FB711FD5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15600" y="5338355"/>
              <a:ext cx="4078294" cy="572516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00795246-33FA-67D0-A29C-80D9B95C4266}"/>
              </a:ext>
            </a:extLst>
          </p:cNvPr>
          <p:cNvSpPr txBox="1"/>
          <p:nvPr/>
        </p:nvSpPr>
        <p:spPr>
          <a:xfrm>
            <a:off x="6792502" y="827872"/>
            <a:ext cx="4145280" cy="1340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②科技制作发明：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院级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绩点；校级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绩点；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省级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绩点；国级</a:t>
            </a:r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en-US" dirty="0">
                <a:solidFill>
                  <a:srgbClr val="FF0000"/>
                </a:solidFill>
              </a:rPr>
              <a:t>绩点。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AFED1F-6DFE-6F2E-95F0-03C17E3347B5}"/>
              </a:ext>
            </a:extLst>
          </p:cNvPr>
          <p:cNvSpPr txBox="1"/>
          <p:nvPr/>
        </p:nvSpPr>
        <p:spPr>
          <a:xfrm>
            <a:off x="6792502" y="2168624"/>
            <a:ext cx="4955177" cy="3048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③ </a:t>
            </a:r>
            <a:r>
              <a:rPr lang="zh-CN" altLang="en-US" dirty="0">
                <a:solidFill>
                  <a:srgbClr val="FF0000"/>
                </a:solidFill>
              </a:rPr>
              <a:t>第二参与者以及以后减半加绩点！！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     </a:t>
            </a:r>
            <a:r>
              <a:rPr lang="zh-CN" altLang="en-US" dirty="0"/>
              <a:t>课题：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dirty="0"/>
              <a:t>申报</a:t>
            </a:r>
            <a:r>
              <a:rPr lang="en-US" altLang="zh-CN" dirty="0"/>
              <a:t>——</a:t>
            </a:r>
            <a:r>
              <a:rPr lang="zh-CN" altLang="en-US" dirty="0"/>
              <a:t>校级</a:t>
            </a:r>
            <a:r>
              <a:rPr lang="en-US" altLang="zh-CN" dirty="0"/>
              <a:t>1</a:t>
            </a:r>
            <a:r>
              <a:rPr lang="zh-CN" altLang="en-US" dirty="0"/>
              <a:t>绩点，省级</a:t>
            </a:r>
            <a:r>
              <a:rPr lang="en-US" altLang="zh-CN" dirty="0"/>
              <a:t>2</a:t>
            </a:r>
            <a:r>
              <a:rPr lang="zh-CN" altLang="en-US" dirty="0"/>
              <a:t>绩点，国级</a:t>
            </a:r>
            <a:r>
              <a:rPr lang="en-US" altLang="zh-CN" dirty="0"/>
              <a:t>3</a:t>
            </a:r>
            <a:r>
              <a:rPr lang="zh-CN" altLang="en-US" dirty="0"/>
              <a:t>绩点；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立项</a:t>
            </a:r>
            <a:r>
              <a:rPr lang="en-US" altLang="zh-CN" dirty="0"/>
              <a:t>——</a:t>
            </a:r>
            <a:r>
              <a:rPr lang="zh-CN" altLang="en-US" dirty="0"/>
              <a:t>校级</a:t>
            </a:r>
            <a:r>
              <a:rPr lang="en-US" altLang="zh-CN" dirty="0"/>
              <a:t>2</a:t>
            </a:r>
            <a:r>
              <a:rPr lang="zh-CN" altLang="en-US" dirty="0"/>
              <a:t>绩点，省级</a:t>
            </a:r>
            <a:r>
              <a:rPr lang="en-US" altLang="zh-CN" dirty="0"/>
              <a:t>4</a:t>
            </a:r>
            <a:r>
              <a:rPr lang="zh-CN" altLang="en-US" dirty="0"/>
              <a:t>绩点，国级</a:t>
            </a:r>
            <a:r>
              <a:rPr lang="en-US" altLang="zh-CN" dirty="0"/>
              <a:t>6</a:t>
            </a:r>
            <a:r>
              <a:rPr lang="zh-CN" altLang="en-US" dirty="0"/>
              <a:t>绩点；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结题</a:t>
            </a:r>
            <a:r>
              <a:rPr lang="en-US" altLang="zh-CN" dirty="0"/>
              <a:t>——</a:t>
            </a:r>
            <a:r>
              <a:rPr lang="zh-CN" altLang="en-US" dirty="0"/>
              <a:t>校级</a:t>
            </a:r>
            <a:r>
              <a:rPr lang="en-US" altLang="zh-CN" dirty="0"/>
              <a:t>3</a:t>
            </a:r>
            <a:r>
              <a:rPr lang="zh-CN" altLang="en-US" dirty="0"/>
              <a:t>绩点，省级</a:t>
            </a:r>
            <a:r>
              <a:rPr lang="en-US" altLang="zh-CN" dirty="0"/>
              <a:t>6</a:t>
            </a:r>
            <a:r>
              <a:rPr lang="zh-CN" altLang="en-US" dirty="0"/>
              <a:t>绩点，国级</a:t>
            </a:r>
            <a:r>
              <a:rPr lang="en-US" altLang="zh-CN" dirty="0"/>
              <a:t>9</a:t>
            </a:r>
            <a:r>
              <a:rPr lang="zh-CN" altLang="en-US" dirty="0"/>
              <a:t>绩点；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</a:t>
            </a:r>
            <a:r>
              <a:rPr lang="zh-CN" altLang="en-US" dirty="0"/>
              <a:t>论文：教师第一作者学生第二作者时，等同于此学生为第一作者，按第一作者绩点数计算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5363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F03F-0441-7468-D13C-BDAF96511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7B5733-C8F3-D1F3-7B9E-E507647BC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5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文体活动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79864C0-CB6D-F853-79DE-4E53BEEAECED}"/>
              </a:ext>
            </a:extLst>
          </p:cNvPr>
          <p:cNvCxnSpPr>
            <a:cxnSpLocks/>
          </p:cNvCxnSpPr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3CC658EE-3417-6B39-C822-9C25E8AC5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67" y="1160825"/>
            <a:ext cx="5991225" cy="486727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2DB49D0-76E7-F4B0-01A8-1F734C1ADD78}"/>
              </a:ext>
            </a:extLst>
          </p:cNvPr>
          <p:cNvSpPr txBox="1"/>
          <p:nvPr/>
        </p:nvSpPr>
        <p:spPr>
          <a:xfrm>
            <a:off x="6949440" y="661069"/>
            <a:ext cx="4406535" cy="295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①文学活动与艺体活动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    个人参加：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院级</a:t>
            </a:r>
            <a:r>
              <a:rPr lang="en-US" altLang="zh-CN" dirty="0"/>
              <a:t>1</a:t>
            </a:r>
            <a:r>
              <a:rPr lang="zh-CN" altLang="en-US" dirty="0"/>
              <a:t>绩点，校级</a:t>
            </a:r>
            <a:r>
              <a:rPr lang="en-US" altLang="zh-CN" dirty="0"/>
              <a:t>2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省级</a:t>
            </a:r>
            <a:r>
              <a:rPr lang="en-US" altLang="zh-CN" dirty="0"/>
              <a:t>4</a:t>
            </a:r>
            <a:r>
              <a:rPr lang="zh-CN" altLang="en-US" dirty="0"/>
              <a:t>绩点，国级</a:t>
            </a:r>
            <a:r>
              <a:rPr lang="en-US" altLang="zh-CN" dirty="0"/>
              <a:t>6</a:t>
            </a:r>
            <a:r>
              <a:rPr lang="zh-CN" altLang="en-US" dirty="0"/>
              <a:t>绩点。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团队参加减半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个人或团队参加同一活动的不同级别只加最高绩点，不累加！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D91630-C79B-3D0F-72D7-08980B5AAAAA}"/>
              </a:ext>
            </a:extLst>
          </p:cNvPr>
          <p:cNvSpPr txBox="1"/>
          <p:nvPr/>
        </p:nvSpPr>
        <p:spPr>
          <a:xfrm>
            <a:off x="6949440" y="3702518"/>
            <a:ext cx="4580706" cy="212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②</a:t>
            </a:r>
            <a:r>
              <a:rPr lang="zh-CN" altLang="en-US" dirty="0">
                <a:solidFill>
                  <a:srgbClr val="FF0000"/>
                </a:solidFill>
              </a:rPr>
              <a:t>参与</a:t>
            </a:r>
            <a:r>
              <a:rPr lang="zh-CN" altLang="en-US" dirty="0"/>
              <a:t>文体竞赛（不作个人</a:t>
            </a:r>
            <a:r>
              <a:rPr lang="en-US" altLang="zh-CN" dirty="0"/>
              <a:t>or</a:t>
            </a:r>
            <a:r>
              <a:rPr lang="zh-CN" altLang="en-US" dirty="0"/>
              <a:t>团队参与区分）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院级</a:t>
            </a:r>
            <a:r>
              <a:rPr lang="en-US" altLang="zh-CN" dirty="0"/>
              <a:t>1</a:t>
            </a:r>
            <a:r>
              <a:rPr lang="zh-CN" altLang="en-US" dirty="0"/>
              <a:t>绩</a:t>
            </a:r>
            <a:r>
              <a:rPr lang="zh-CN" altLang="en-US"/>
              <a:t>点，校级</a:t>
            </a:r>
            <a:r>
              <a:rPr lang="en-US" altLang="zh-CN" dirty="0"/>
              <a:t>2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省级</a:t>
            </a:r>
            <a:r>
              <a:rPr lang="en-US" altLang="zh-CN" dirty="0"/>
              <a:t>3</a:t>
            </a:r>
            <a:r>
              <a:rPr lang="zh-CN" altLang="en-US" dirty="0"/>
              <a:t>绩点，国级</a:t>
            </a:r>
            <a:r>
              <a:rPr lang="en-US" altLang="zh-CN" dirty="0"/>
              <a:t>4</a:t>
            </a:r>
            <a:r>
              <a:rPr lang="zh-CN" altLang="en-US" dirty="0"/>
              <a:t>绩点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参加同一活动的不同级别只加最高绩点，不累加！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4269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56CBA-DEB4-DD8F-C37F-8C4B143C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426D5-5610-1928-942E-8FD938BC4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6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技能特长类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0DC869D-28C5-FA38-B4D9-23EE8C1591D9}"/>
              </a:ext>
            </a:extLst>
          </p:cNvPr>
          <p:cNvCxnSpPr>
            <a:cxnSpLocks/>
          </p:cNvCxnSpPr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FDAC23D9-F151-137C-9ABF-6A6356382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95" y="1165588"/>
            <a:ext cx="5724525" cy="48577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CF134B3-3847-4391-D5AC-E48436B15BC9}"/>
              </a:ext>
            </a:extLst>
          </p:cNvPr>
          <p:cNvSpPr txBox="1"/>
          <p:nvPr/>
        </p:nvSpPr>
        <p:spPr>
          <a:xfrm>
            <a:off x="6949442" y="586524"/>
            <a:ext cx="4561787" cy="3372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①外语等级考试：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音乐、体育、美术</a:t>
            </a:r>
            <a:r>
              <a:rPr lang="zh-CN" altLang="en-US" dirty="0"/>
              <a:t>专业（</a:t>
            </a:r>
            <a:r>
              <a:rPr lang="en-US" altLang="zh-CN" dirty="0"/>
              <a:t>360</a:t>
            </a:r>
            <a:r>
              <a:rPr lang="zh-CN" altLang="en-US" dirty="0"/>
              <a:t>分为通过）</a:t>
            </a:r>
            <a:r>
              <a:rPr lang="en-US" altLang="zh-CN" dirty="0"/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三级</a:t>
            </a:r>
            <a:r>
              <a:rPr lang="en-US" altLang="zh-CN" dirty="0"/>
              <a:t>2</a:t>
            </a:r>
            <a:r>
              <a:rPr lang="zh-CN" altLang="en-US" dirty="0"/>
              <a:t>绩点，四级</a:t>
            </a:r>
            <a:r>
              <a:rPr lang="en-US" altLang="zh-CN" dirty="0"/>
              <a:t>3</a:t>
            </a:r>
            <a:r>
              <a:rPr lang="zh-CN" altLang="en-US" dirty="0"/>
              <a:t>绩点，六级</a:t>
            </a:r>
            <a:r>
              <a:rPr lang="en-US" altLang="zh-CN" dirty="0"/>
              <a:t>4</a:t>
            </a:r>
            <a:r>
              <a:rPr lang="zh-CN" altLang="en-US" dirty="0"/>
              <a:t>绩点。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外语</a:t>
            </a:r>
            <a:r>
              <a:rPr lang="zh-CN" altLang="en-US" dirty="0"/>
              <a:t>专业学生：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四级</a:t>
            </a:r>
            <a:r>
              <a:rPr lang="en-US" altLang="zh-CN" dirty="0"/>
              <a:t>2</a:t>
            </a:r>
            <a:r>
              <a:rPr lang="zh-CN" altLang="en-US" dirty="0"/>
              <a:t>绩点，六级</a:t>
            </a:r>
            <a:r>
              <a:rPr lang="en-US" altLang="zh-CN" dirty="0"/>
              <a:t>2.5 </a:t>
            </a:r>
            <a:r>
              <a:rPr lang="zh-CN" altLang="en-US" dirty="0"/>
              <a:t>绩点（</a:t>
            </a:r>
            <a:r>
              <a:rPr lang="en-US" altLang="zh-CN" dirty="0"/>
              <a:t>425</a:t>
            </a:r>
            <a:r>
              <a:rPr lang="zh-CN" altLang="en-US" dirty="0"/>
              <a:t>分为通过）；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专四</a:t>
            </a:r>
            <a:r>
              <a:rPr lang="en-US" altLang="zh-CN" dirty="0"/>
              <a:t>3</a:t>
            </a:r>
            <a:r>
              <a:rPr lang="zh-CN" altLang="en-US" dirty="0"/>
              <a:t>绩点，专八</a:t>
            </a:r>
            <a:r>
              <a:rPr lang="en-US" altLang="zh-CN" dirty="0"/>
              <a:t>4</a:t>
            </a:r>
            <a:r>
              <a:rPr lang="zh-CN" altLang="en-US" dirty="0"/>
              <a:t>绩点。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普通</a:t>
            </a:r>
            <a:r>
              <a:rPr lang="zh-CN" altLang="en-US" dirty="0"/>
              <a:t>专业学生：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四级</a:t>
            </a:r>
            <a:r>
              <a:rPr lang="en-US" altLang="zh-CN" dirty="0"/>
              <a:t>2</a:t>
            </a:r>
            <a:r>
              <a:rPr lang="zh-CN" altLang="en-US" dirty="0"/>
              <a:t>绩点，六级</a:t>
            </a:r>
            <a:r>
              <a:rPr lang="en-US" altLang="zh-CN" dirty="0"/>
              <a:t>4</a:t>
            </a:r>
            <a:r>
              <a:rPr lang="zh-CN" altLang="en-US" dirty="0"/>
              <a:t>绩点（</a:t>
            </a:r>
            <a:r>
              <a:rPr lang="en-US" altLang="zh-CN" dirty="0"/>
              <a:t>425</a:t>
            </a:r>
            <a:r>
              <a:rPr lang="zh-CN" altLang="en-US" dirty="0"/>
              <a:t>分为通过）。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40CE505-8AC5-B2C2-EFD4-4F29AD4B545A}"/>
              </a:ext>
            </a:extLst>
          </p:cNvPr>
          <p:cNvSpPr txBox="1"/>
          <p:nvPr/>
        </p:nvSpPr>
        <p:spPr>
          <a:xfrm>
            <a:off x="6949441" y="3979068"/>
            <a:ext cx="4561787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②普通话等级考试：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一级甲等</a:t>
            </a:r>
            <a:r>
              <a:rPr lang="en-US" altLang="zh-CN" dirty="0"/>
              <a:t>:4</a:t>
            </a:r>
            <a:r>
              <a:rPr lang="zh-CN" altLang="en-US" dirty="0"/>
              <a:t>绩点，一级乙等</a:t>
            </a:r>
            <a:r>
              <a:rPr lang="en-US" altLang="zh-CN" dirty="0"/>
              <a:t>:3.5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二级甲等</a:t>
            </a:r>
            <a:r>
              <a:rPr lang="en-US" altLang="zh-CN" dirty="0"/>
              <a:t>:2.5</a:t>
            </a:r>
            <a:r>
              <a:rPr lang="zh-CN" altLang="en-US" dirty="0"/>
              <a:t>绩点，二级乙等</a:t>
            </a:r>
            <a:r>
              <a:rPr lang="en-US" altLang="zh-CN" dirty="0"/>
              <a:t>:2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三级甲等</a:t>
            </a:r>
            <a:r>
              <a:rPr lang="en-US" altLang="zh-CN" dirty="0"/>
              <a:t>:1.5</a:t>
            </a:r>
            <a:r>
              <a:rPr lang="zh-CN" altLang="en-US" dirty="0"/>
              <a:t>绩点，三级乙等</a:t>
            </a:r>
            <a:r>
              <a:rPr lang="en-US" altLang="zh-CN" dirty="0"/>
              <a:t>:1</a:t>
            </a:r>
            <a:r>
              <a:rPr lang="zh-CN" altLang="en-US" dirty="0"/>
              <a:t>绩点。</a:t>
            </a:r>
          </a:p>
        </p:txBody>
      </p:sp>
    </p:spTree>
    <p:extLst>
      <p:ext uri="{BB962C8B-B14F-4D97-AF65-F5344CB8AC3E}">
        <p14:creationId xmlns:p14="http://schemas.microsoft.com/office/powerpoint/2010/main" val="409424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B70B8-C8FB-1C9F-5B54-64DCDD2C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D2D1BA-66B0-065F-4972-D2D1BF85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0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  <a:latin typeface="+mj-ea"/>
                <a:sym typeface="+mn-ea"/>
              </a:rPr>
              <a:t>6</a:t>
            </a:r>
            <a:r>
              <a:rPr lang="en-US" altLang="zh-CN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 </a:t>
            </a:r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技能特长类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96F1D34-0B18-0729-44C9-5898BC59CEE5}"/>
              </a:ext>
            </a:extLst>
          </p:cNvPr>
          <p:cNvCxnSpPr>
            <a:cxnSpLocks/>
          </p:cNvCxnSpPr>
          <p:nvPr/>
        </p:nvCxnSpPr>
        <p:spPr>
          <a:xfrm>
            <a:off x="6627042" y="661069"/>
            <a:ext cx="0" cy="5572091"/>
          </a:xfrm>
          <a:prstGeom prst="line">
            <a:avLst/>
          </a:prstGeom>
          <a:ln w="25400">
            <a:gradFill>
              <a:gsLst>
                <a:gs pos="52000">
                  <a:schemeClr val="accent1"/>
                </a:gs>
                <a:gs pos="100000">
                  <a:schemeClr val="accent1">
                    <a:lumMod val="20000"/>
                    <a:lumOff val="80000"/>
                  </a:schemeClr>
                </a:gs>
                <a:gs pos="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CC234C53-5D9A-E6C4-AB1C-1ADFB7305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95" y="1165588"/>
            <a:ext cx="5724525" cy="48577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E898B86-6839-236F-24EA-0F93F22E308D}"/>
              </a:ext>
            </a:extLst>
          </p:cNvPr>
          <p:cNvSpPr txBox="1"/>
          <p:nvPr/>
        </p:nvSpPr>
        <p:spPr>
          <a:xfrm>
            <a:off x="6949442" y="1997313"/>
            <a:ext cx="4561787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③职业资格证书：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省级证书</a:t>
            </a:r>
            <a:r>
              <a:rPr lang="en-US" altLang="zh-CN" dirty="0"/>
              <a:t>2</a:t>
            </a:r>
            <a:r>
              <a:rPr lang="zh-CN" altLang="en-US" dirty="0"/>
              <a:t>绩点，国级证书</a:t>
            </a:r>
            <a:r>
              <a:rPr lang="en-US" altLang="zh-CN" dirty="0"/>
              <a:t>4</a:t>
            </a:r>
            <a:r>
              <a:rPr lang="zh-CN" altLang="en-US" dirty="0"/>
              <a:t>绩点。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A163B8A-DB0F-B379-900A-4806D9904332}"/>
              </a:ext>
            </a:extLst>
          </p:cNvPr>
          <p:cNvSpPr txBox="1"/>
          <p:nvPr/>
        </p:nvSpPr>
        <p:spPr>
          <a:xfrm>
            <a:off x="6949442" y="2968874"/>
            <a:ext cx="4561787" cy="1294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④</a:t>
            </a:r>
            <a:r>
              <a:rPr lang="zh-CN" altLang="en-US" dirty="0">
                <a:solidFill>
                  <a:srgbClr val="FF0000"/>
                </a:solidFill>
              </a:rPr>
              <a:t>参与</a:t>
            </a:r>
            <a:r>
              <a:rPr lang="zh-CN" altLang="en-US" dirty="0"/>
              <a:t>职业技能竞赛：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院级</a:t>
            </a:r>
            <a:r>
              <a:rPr lang="en-US" altLang="zh-CN" dirty="0"/>
              <a:t>1</a:t>
            </a:r>
            <a:r>
              <a:rPr lang="zh-CN" altLang="en-US" dirty="0"/>
              <a:t>绩点，校级</a:t>
            </a:r>
            <a:r>
              <a:rPr lang="en-US" altLang="zh-CN" dirty="0"/>
              <a:t>2</a:t>
            </a:r>
            <a:r>
              <a:rPr lang="zh-CN" altLang="en-US" dirty="0"/>
              <a:t>绩点，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省级</a:t>
            </a:r>
            <a:r>
              <a:rPr lang="en-US" altLang="zh-CN" dirty="0"/>
              <a:t>3</a:t>
            </a:r>
            <a:r>
              <a:rPr lang="zh-CN" altLang="en-US" dirty="0"/>
              <a:t>绩点，国级</a:t>
            </a:r>
            <a:r>
              <a:rPr lang="en-US" altLang="zh-CN" dirty="0"/>
              <a:t>4</a:t>
            </a:r>
            <a:r>
              <a:rPr lang="zh-CN" altLang="en-US" dirty="0"/>
              <a:t>绩点。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D65783-9A24-C3F9-3D42-17FCC2BEB5F2}"/>
              </a:ext>
            </a:extLst>
          </p:cNvPr>
          <p:cNvSpPr txBox="1"/>
          <p:nvPr/>
        </p:nvSpPr>
        <p:spPr>
          <a:xfrm>
            <a:off x="6949441" y="4263459"/>
            <a:ext cx="4561787" cy="463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④技能培训：</a:t>
            </a:r>
            <a:r>
              <a:rPr lang="zh-CN" altLang="en-US" dirty="0">
                <a:solidFill>
                  <a:srgbClr val="FF0000"/>
                </a:solidFill>
              </a:rPr>
              <a:t>同一系列培训只计一次。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6745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84593-4AE0-C6B6-5A23-F6F4A210A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551AB869-58BF-C946-3C61-B1E7D55EC79A}"/>
              </a:ext>
            </a:extLst>
          </p:cNvPr>
          <p:cNvSpPr txBox="1"/>
          <p:nvPr/>
        </p:nvSpPr>
        <p:spPr>
          <a:xfrm>
            <a:off x="1747926" y="1941900"/>
            <a:ext cx="3593933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bg1"/>
                </a:solidFill>
                <a:latin typeface="+mj-ea"/>
                <a:ea typeface="+mj-ea"/>
              </a:rPr>
              <a:t>03</a:t>
            </a:r>
            <a:endParaRPr lang="zh-CN" altLang="en-US" sz="23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E239055-0082-0FDB-A3C4-369F3255C3CC}"/>
              </a:ext>
            </a:extLst>
          </p:cNvPr>
          <p:cNvSpPr/>
          <p:nvPr/>
        </p:nvSpPr>
        <p:spPr>
          <a:xfrm>
            <a:off x="108974" y="3426553"/>
            <a:ext cx="2840703" cy="6949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8DD69A3-8AAD-EFF7-74BB-B666B3BCB478}"/>
              </a:ext>
            </a:extLst>
          </p:cNvPr>
          <p:cNvSpPr txBox="1"/>
          <p:nvPr/>
        </p:nvSpPr>
        <p:spPr>
          <a:xfrm>
            <a:off x="1192980" y="3596199"/>
            <a:ext cx="1577291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bg1"/>
                </a:solidFill>
              </a:rPr>
              <a:t>PART THREE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881B049-1764-979A-B86B-AA841ECB598C}"/>
              </a:ext>
            </a:extLst>
          </p:cNvPr>
          <p:cNvSpPr txBox="1"/>
          <p:nvPr/>
        </p:nvSpPr>
        <p:spPr>
          <a:xfrm>
            <a:off x="6442986" y="2872555"/>
            <a:ext cx="3385542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注意事项</a:t>
            </a:r>
            <a:endParaRPr kumimoji="1" lang="zh-CN" altLang="en-US" sz="6600" dirty="0">
              <a:solidFill>
                <a:schemeClr val="bg1"/>
              </a:solidFill>
              <a:latin typeface="+mj-ea"/>
              <a:ea typeface="+mj-ea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39915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0D935-F7BC-31F7-8035-A2B46F2A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79003-3F45-FFF7-3ABE-D4E40A236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注意事项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D17731-6162-398C-4F70-104A78831C86}"/>
              </a:ext>
            </a:extLst>
          </p:cNvPr>
          <p:cNvSpPr txBox="1"/>
          <p:nvPr/>
        </p:nvSpPr>
        <p:spPr>
          <a:xfrm>
            <a:off x="1237369" y="1610585"/>
            <a:ext cx="10013355" cy="280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1.</a:t>
            </a:r>
            <a:r>
              <a:rPr lang="zh-CN" altLang="en-US" sz="2400" dirty="0"/>
              <a:t>新文件将</a:t>
            </a:r>
            <a:r>
              <a:rPr lang="zh-CN" altLang="en-US" sz="2400" dirty="0">
                <a:solidFill>
                  <a:srgbClr val="FF0000"/>
                </a:solidFill>
              </a:rPr>
              <a:t>实践实习</a:t>
            </a:r>
            <a:r>
              <a:rPr lang="zh-CN" altLang="en-US" sz="2400" dirty="0"/>
              <a:t>与</a:t>
            </a:r>
            <a:r>
              <a:rPr lang="zh-CN" altLang="en-US" sz="2400" dirty="0">
                <a:solidFill>
                  <a:srgbClr val="FF0000"/>
                </a:solidFill>
              </a:rPr>
              <a:t>社会工作</a:t>
            </a:r>
            <a:r>
              <a:rPr lang="zh-CN" altLang="en-US" sz="2400" dirty="0"/>
              <a:t>合并为</a:t>
            </a:r>
            <a:r>
              <a:rPr lang="zh-CN" altLang="en-US" sz="2400" dirty="0">
                <a:solidFill>
                  <a:srgbClr val="FF0000"/>
                </a:solidFill>
              </a:rPr>
              <a:t>实践工作类</a:t>
            </a:r>
            <a:r>
              <a:rPr lang="zh-CN" altLang="en-US" sz="2400" dirty="0"/>
              <a:t>，先前执行旧文件所获得的绩点后期会进行</a:t>
            </a:r>
            <a:r>
              <a:rPr lang="zh-CN" altLang="en-US" sz="2400" dirty="0">
                <a:solidFill>
                  <a:srgbClr val="FF0000"/>
                </a:solidFill>
              </a:rPr>
              <a:t>合并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2.</a:t>
            </a:r>
            <a:r>
              <a:rPr lang="zh-CN" altLang="en-US" sz="2400" dirty="0"/>
              <a:t>新文件将</a:t>
            </a:r>
            <a:r>
              <a:rPr lang="zh-CN" altLang="en-US" sz="2400" dirty="0">
                <a:solidFill>
                  <a:srgbClr val="FF0000"/>
                </a:solidFill>
              </a:rPr>
              <a:t>教师技能类绩点取消</a:t>
            </a:r>
            <a:r>
              <a:rPr lang="zh-CN" altLang="en-US" sz="2400" dirty="0"/>
              <a:t>，后续会合并至</a:t>
            </a:r>
            <a:r>
              <a:rPr lang="zh-CN" altLang="en-US" sz="2400" dirty="0">
                <a:solidFill>
                  <a:srgbClr val="FF0000"/>
                </a:solidFill>
              </a:rPr>
              <a:t>技能特长类绩点</a:t>
            </a:r>
            <a:r>
              <a:rPr lang="zh-CN" altLang="en-US" sz="2400" dirty="0"/>
              <a:t>、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3.</a:t>
            </a:r>
            <a:r>
              <a:rPr lang="zh-CN" altLang="en-US" sz="2400" dirty="0"/>
              <a:t>新文件</a:t>
            </a:r>
            <a:r>
              <a:rPr lang="zh-CN" altLang="en-US" sz="2400" dirty="0">
                <a:solidFill>
                  <a:srgbClr val="FF0000"/>
                </a:solidFill>
              </a:rPr>
              <a:t>取消</a:t>
            </a:r>
            <a:r>
              <a:rPr lang="zh-CN" altLang="en-US" sz="2400" dirty="0"/>
              <a:t>了所有关于</a:t>
            </a:r>
            <a:r>
              <a:rPr lang="zh-CN" altLang="en-US" sz="2400" dirty="0">
                <a:solidFill>
                  <a:srgbClr val="FF0000"/>
                </a:solidFill>
              </a:rPr>
              <a:t>竞赛获奖</a:t>
            </a:r>
            <a:r>
              <a:rPr lang="zh-CN" altLang="en-US" sz="2400" dirty="0"/>
              <a:t>的附加奖励绩点，竞赛的参与证明原则上以证书或通报下发认定。</a:t>
            </a:r>
            <a:endParaRPr lang="en-US" altLang="zh-CN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9D9495-37A5-E39C-BEB6-85D75BCF49D1}"/>
              </a:ext>
            </a:extLst>
          </p:cNvPr>
          <p:cNvSpPr txBox="1"/>
          <p:nvPr/>
        </p:nvSpPr>
        <p:spPr>
          <a:xfrm>
            <a:off x="1237369" y="4589318"/>
            <a:ext cx="9083040" cy="131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/>
              <a:t>*</a:t>
            </a:r>
            <a:r>
              <a:rPr lang="zh-CN" altLang="en-US" sz="2800" dirty="0"/>
              <a:t>补充：申请</a:t>
            </a:r>
            <a:r>
              <a:rPr lang="zh-CN" altLang="en-US" sz="2800" dirty="0">
                <a:solidFill>
                  <a:srgbClr val="FF0000"/>
                </a:solidFill>
              </a:rPr>
              <a:t>发布活动</a:t>
            </a:r>
            <a:r>
              <a:rPr lang="zh-CN" altLang="en-US" sz="2800" dirty="0"/>
              <a:t>务必</a:t>
            </a:r>
            <a:r>
              <a:rPr lang="zh-CN" altLang="en-US" sz="2800" b="1" u="sng" dirty="0">
                <a:solidFill>
                  <a:srgbClr val="FF0000"/>
                </a:solidFill>
              </a:rPr>
              <a:t>至少提前三天申请</a:t>
            </a:r>
            <a:r>
              <a:rPr lang="zh-CN" altLang="en-US" sz="2800" dirty="0"/>
              <a:t>，以免活动审核不及时以及后续报名和活动开展时间不足！</a:t>
            </a:r>
          </a:p>
        </p:txBody>
      </p:sp>
    </p:spTree>
    <p:extLst>
      <p:ext uri="{BB962C8B-B14F-4D97-AF65-F5344CB8AC3E}">
        <p14:creationId xmlns:p14="http://schemas.microsoft.com/office/powerpoint/2010/main" val="39718514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FCFF-AA0A-C385-B7FE-D3E226010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5726B-9C7B-AE13-AABC-C12AF90B0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1" y="586524"/>
            <a:ext cx="4813123" cy="482696"/>
          </a:xfrm>
        </p:spPr>
        <p:txBody>
          <a:bodyPr>
            <a:spAutoFit/>
          </a:bodyPr>
          <a:lstStyle/>
          <a:p>
            <a:r>
              <a:rPr lang="zh-CN" altLang="en-US" b="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sym typeface="+mn-ea"/>
              </a:rPr>
              <a:t>注意事项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EAD3D2-67D0-1B77-3202-32C7BE1A241D}"/>
              </a:ext>
            </a:extLst>
          </p:cNvPr>
          <p:cNvSpPr txBox="1"/>
          <p:nvPr/>
        </p:nvSpPr>
        <p:spPr>
          <a:xfrm>
            <a:off x="1080614" y="1339185"/>
            <a:ext cx="10030772" cy="4465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4.</a:t>
            </a:r>
            <a:r>
              <a:rPr lang="zh-CN" altLang="en-US" sz="2400" dirty="0"/>
              <a:t>新文件会随着</a:t>
            </a:r>
            <a:r>
              <a:rPr lang="zh-CN" altLang="en-US" sz="2400" dirty="0">
                <a:solidFill>
                  <a:srgbClr val="FF0000"/>
                </a:solidFill>
              </a:rPr>
              <a:t>新系统</a:t>
            </a:r>
            <a:r>
              <a:rPr lang="zh-CN" altLang="en-US" sz="2400" dirty="0"/>
              <a:t>的启用同步启用，旧文件以及</a:t>
            </a:r>
            <a:r>
              <a:rPr lang="en-US" altLang="zh-CN" sz="2400" dirty="0"/>
              <a:t>PU</a:t>
            </a:r>
            <a:r>
              <a:rPr lang="zh-CN" altLang="en-US" sz="2400" dirty="0"/>
              <a:t>口袋校园将会</a:t>
            </a:r>
            <a:r>
              <a:rPr lang="zh-CN" altLang="en-US" sz="2400" dirty="0">
                <a:solidFill>
                  <a:srgbClr val="FF0000"/>
                </a:solidFill>
              </a:rPr>
              <a:t>停用</a:t>
            </a:r>
            <a:r>
              <a:rPr lang="zh-CN" altLang="en-US" sz="2400" dirty="0"/>
              <a:t>。新系统中将</a:t>
            </a:r>
            <a:r>
              <a:rPr lang="zh-CN" altLang="en-US" sz="2400" dirty="0">
                <a:solidFill>
                  <a:srgbClr val="FF0000"/>
                </a:solidFill>
              </a:rPr>
              <a:t>不会有旧</a:t>
            </a:r>
            <a:r>
              <a:rPr lang="en-US" altLang="zh-CN" sz="2400" dirty="0">
                <a:solidFill>
                  <a:srgbClr val="FF0000"/>
                </a:solidFill>
              </a:rPr>
              <a:t>PU</a:t>
            </a:r>
            <a:r>
              <a:rPr lang="zh-CN" altLang="en-US" sz="2400" dirty="0">
                <a:solidFill>
                  <a:srgbClr val="FF0000"/>
                </a:solidFill>
              </a:rPr>
              <a:t>的绩点记录</a:t>
            </a:r>
            <a:r>
              <a:rPr lang="zh-CN" altLang="en-US" sz="2400" dirty="0"/>
              <a:t>，但会在对二课成绩单统计时进行</a:t>
            </a:r>
            <a:r>
              <a:rPr lang="zh-CN" altLang="en-US" sz="2400" dirty="0">
                <a:solidFill>
                  <a:srgbClr val="FF0000"/>
                </a:solidFill>
              </a:rPr>
              <a:t>合并叠加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5.</a:t>
            </a:r>
            <a:r>
              <a:rPr lang="zh-CN" altLang="en-US" sz="2400" dirty="0"/>
              <a:t>每类绩点</a:t>
            </a:r>
            <a:r>
              <a:rPr lang="zh-CN" altLang="en-US" sz="2400" dirty="0">
                <a:solidFill>
                  <a:srgbClr val="FF0000"/>
                </a:solidFill>
              </a:rPr>
              <a:t>最低标准</a:t>
            </a:r>
            <a:r>
              <a:rPr lang="zh-CN" altLang="en-US" sz="2400" dirty="0"/>
              <a:t>都进行了调整，</a:t>
            </a:r>
            <a:r>
              <a:rPr lang="en-US" altLang="zh-CN" sz="2400" dirty="0">
                <a:solidFill>
                  <a:srgbClr val="FF0000"/>
                </a:solidFill>
              </a:rPr>
              <a:t>24</a:t>
            </a:r>
            <a:r>
              <a:rPr lang="zh-CN" altLang="en-US" sz="2400" dirty="0">
                <a:solidFill>
                  <a:srgbClr val="FF0000"/>
                </a:solidFill>
              </a:rPr>
              <a:t>级新生</a:t>
            </a:r>
            <a:r>
              <a:rPr lang="zh-CN" altLang="en-US" sz="2400" dirty="0"/>
              <a:t>严格按照最新文件最新标准，其余年级学生，在原有已修二课分基础上，按照新办法继续修第二课堂学分，但各类别不做细分要求，只要求完成</a:t>
            </a:r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r>
              <a:rPr lang="zh-CN" altLang="en-US" sz="2400" dirty="0">
                <a:solidFill>
                  <a:srgbClr val="FF0000"/>
                </a:solidFill>
              </a:rPr>
              <a:t>个总学分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6.</a:t>
            </a:r>
            <a:r>
              <a:rPr lang="zh-CN" altLang="en-US" sz="2400" dirty="0"/>
              <a:t>自文件发布起，严格按照文件关于第二课堂学分标准要求施行、申请毕业。</a:t>
            </a:r>
            <a:r>
              <a:rPr lang="zh-CN" altLang="en-US" sz="2400" dirty="0">
                <a:solidFill>
                  <a:srgbClr val="FF0000"/>
                </a:solidFill>
              </a:rPr>
              <a:t>如未修满，不与毕业！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738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C58DD-BDC7-C5E8-AD22-6F115E8A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3F2791D5-E82F-F21B-5CC3-8C6A8EC4740F}"/>
              </a:ext>
            </a:extLst>
          </p:cNvPr>
          <p:cNvSpPr txBox="1"/>
          <p:nvPr/>
        </p:nvSpPr>
        <p:spPr>
          <a:xfrm>
            <a:off x="1747926" y="1941900"/>
            <a:ext cx="3593933" cy="367793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3900" dirty="0">
                <a:solidFill>
                  <a:schemeClr val="bg1"/>
                </a:solidFill>
                <a:latin typeface="+mj-ea"/>
                <a:ea typeface="+mj-ea"/>
              </a:rPr>
              <a:t>04</a:t>
            </a:r>
            <a:endParaRPr lang="zh-CN" altLang="en-US" sz="239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E4E59C-D73C-1F3D-BDA7-BB61F582D616}"/>
              </a:ext>
            </a:extLst>
          </p:cNvPr>
          <p:cNvSpPr/>
          <p:nvPr/>
        </p:nvSpPr>
        <p:spPr>
          <a:xfrm>
            <a:off x="108974" y="3426553"/>
            <a:ext cx="2840703" cy="69494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l"/>
            <a:endParaRPr lang="zh-CN" altLang="en-US" sz="160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04D2FEC-D578-826C-0F55-629025E886E0}"/>
              </a:ext>
            </a:extLst>
          </p:cNvPr>
          <p:cNvSpPr txBox="1"/>
          <p:nvPr/>
        </p:nvSpPr>
        <p:spPr>
          <a:xfrm>
            <a:off x="1192980" y="3596199"/>
            <a:ext cx="1472006" cy="36933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altLang="zh-CN" sz="2400" dirty="0">
                <a:solidFill>
                  <a:schemeClr val="bg1"/>
                </a:solidFill>
              </a:rPr>
              <a:t>PART FOUR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AF7DEA0-5E94-FA99-37DA-B75F6DFFC916}"/>
              </a:ext>
            </a:extLst>
          </p:cNvPr>
          <p:cNvSpPr txBox="1"/>
          <p:nvPr/>
        </p:nvSpPr>
        <p:spPr>
          <a:xfrm>
            <a:off x="6442988" y="2872555"/>
            <a:ext cx="3385542" cy="10156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kumimoji="1" lang="zh-CN" altLang="en-US" sz="6600" dirty="0">
                <a:solidFill>
                  <a:schemeClr val="bg1"/>
                </a:solidFill>
                <a:latin typeface="+mj-ea"/>
                <a:ea typeface="+mj-ea"/>
                <a:sym typeface="+mn-ea"/>
              </a:rPr>
              <a:t>认证流程</a:t>
            </a:r>
          </a:p>
        </p:txBody>
      </p:sp>
    </p:spTree>
    <p:extLst>
      <p:ext uri="{BB962C8B-B14F-4D97-AF65-F5344CB8AC3E}">
        <p14:creationId xmlns:p14="http://schemas.microsoft.com/office/powerpoint/2010/main" val="3358352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F651C-C125-3F7B-3D5B-74D3E55F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B93D080D-8C39-84A0-BE64-0B6BF0F996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2623998"/>
              </p:ext>
            </p:extLst>
          </p:nvPr>
        </p:nvGraphicFramePr>
        <p:xfrm>
          <a:off x="478971" y="584262"/>
          <a:ext cx="8108158" cy="5689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5736BC2-BD79-BF28-020D-17DCD711E607}"/>
              </a:ext>
            </a:extLst>
          </p:cNvPr>
          <p:cNvSpPr txBox="1"/>
          <p:nvPr/>
        </p:nvSpPr>
        <p:spPr>
          <a:xfrm>
            <a:off x="9016722" y="1729739"/>
            <a:ext cx="553998" cy="33985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个人认证通道暂不开放</a:t>
            </a:r>
          </a:p>
        </p:txBody>
      </p:sp>
    </p:spTree>
    <p:extLst>
      <p:ext uri="{BB962C8B-B14F-4D97-AF65-F5344CB8AC3E}">
        <p14:creationId xmlns:p14="http://schemas.microsoft.com/office/powerpoint/2010/main" val="34225936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1124F-108E-5BC1-5EF4-3AFDA5DCA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E934D576-3946-AC65-FEE9-8701A8E126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0814" y="1805870"/>
            <a:ext cx="8848676" cy="203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spcBef>
                <a:spcPts val="0"/>
              </a:spcBef>
              <a:buSzPct val="100000"/>
            </a:pPr>
            <a:r>
              <a:rPr lang="zh-CN" altLang="en-US" sz="66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+mn-ea"/>
                <a:sym typeface="+mn-lt"/>
              </a:rPr>
              <a:t>“第二课堂成绩单”</a:t>
            </a:r>
            <a:endParaRPr lang="en-US" altLang="zh-CN" sz="6600" b="0" dirty="0">
              <a:solidFill>
                <a:schemeClr val="tx2">
                  <a:lumMod val="75000"/>
                  <a:lumOff val="25000"/>
                </a:schemeClr>
              </a:solidFill>
              <a:latin typeface="方正粗黑宋简体" panose="02000000000000000000" pitchFamily="2" charset="-122"/>
              <a:ea typeface="方正粗黑宋简体" panose="02000000000000000000" pitchFamily="2" charset="-122"/>
              <a:cs typeface="+mn-ea"/>
              <a:sym typeface="+mn-lt"/>
            </a:endParaRPr>
          </a:p>
          <a:p>
            <a:pPr>
              <a:spcBef>
                <a:spcPts val="0"/>
              </a:spcBef>
              <a:buSzPct val="100000"/>
            </a:pPr>
            <a:r>
              <a:rPr lang="zh-CN" altLang="en-US" sz="66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  <a:cs typeface="+mn-ea"/>
                <a:sym typeface="+mn-lt"/>
              </a:rPr>
              <a:t>制度实施办法培训会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CACEB49-388F-D5F4-EF75-509F13252CF6}"/>
              </a:ext>
            </a:extLst>
          </p:cNvPr>
          <p:cNvGrpSpPr/>
          <p:nvPr/>
        </p:nvGrpSpPr>
        <p:grpSpPr>
          <a:xfrm>
            <a:off x="832847" y="4483229"/>
            <a:ext cx="2932716" cy="490220"/>
            <a:chOff x="911225" y="3795252"/>
            <a:chExt cx="2629536" cy="490220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D3B5021-FD97-436E-E5DB-D5643DD3C7E7}"/>
                </a:ext>
              </a:extLst>
            </p:cNvPr>
            <p:cNvSpPr/>
            <p:nvPr/>
          </p:nvSpPr>
          <p:spPr>
            <a:xfrm>
              <a:off x="911225" y="3795252"/>
              <a:ext cx="2629535" cy="49022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EEEEA30-5966-B551-0A53-D1330BF80B62}"/>
                </a:ext>
              </a:extLst>
            </p:cNvPr>
            <p:cNvSpPr txBox="1"/>
            <p:nvPr/>
          </p:nvSpPr>
          <p:spPr>
            <a:xfrm>
              <a:off x="1092201" y="3902004"/>
              <a:ext cx="244856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ea"/>
                  <a:cs typeface="+mn-cs"/>
                </a:rPr>
                <a:t>校团委第二课堂运营中心</a:t>
              </a:r>
              <a:endParaRPr lang="en-US" altLang="zh-CN" dirty="0" err="1">
                <a:solidFill>
                  <a:schemeClr val="bg1"/>
                </a:solidFill>
                <a:latin typeface="+mn-ea"/>
                <a:cs typeface="+mn-ea"/>
                <a:sym typeface="+mn-ea"/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FA741271-4E2F-C40A-5185-5E41AF22842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832846" y="4028774"/>
            <a:ext cx="2932715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lnSpc>
                <a:spcPct val="100000"/>
              </a:lnSpc>
              <a:buSzPct val="100000"/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2024.10.20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005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  <p:tag name="KSO_WM_UNIT_BK_DARK_LIGHT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15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157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3157"/>
  <p:tag name="KSO_WM_SLIDE_LAYOUT" val="a_b"/>
  <p:tag name="KSO_WM_SLIDE_LAYOUT_CNT" val="1_1"/>
  <p:tag name="KSO_WM_TEMPLATE_MASTER_THUMB_INDEX" val="12"/>
  <p:tag name="KSO_WM_TEMPLATE_THUMBS_INDEX" val="1、4、7、8、9、10、13、16、19、20、21、22、23、24、25、26、27、28、29、3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文艺清新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157_1*a*1"/>
  <p:tag name="KSO_WM_TEMPLATE_CATEGORY" val="custom"/>
  <p:tag name="KSO_WM_TEMPLATE_INDEX" val="20203157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副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3157_1*b*1"/>
  <p:tag name="KSO_WM_TEMPLATE_CATEGORY" val="custom"/>
  <p:tag name="KSO_WM_TEMPLATE_INDEX" val="2020315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3157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3157"/>
  <p:tag name="KSO_WM_SLIDE_LAYOUT" val="a_b"/>
  <p:tag name="KSO_WM_SLIDE_LAYOUT_CNT" val="1_1"/>
  <p:tag name="KSO_WM_TEMPLATE_MASTER_THUMB_INDEX" val="12"/>
  <p:tag name="KSO_WM_TEMPLATE_THUMBS_INDEX" val="1、4、7、8、9、10、13、16、19、20、21、22、23、24、25、26、27、28、29、3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文艺清新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157_1*a*1"/>
  <p:tag name="KSO_WM_TEMPLATE_CATEGORY" val="custom"/>
  <p:tag name="KSO_WM_TEMPLATE_INDEX" val="20203157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副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3157_1*b*1"/>
  <p:tag name="KSO_WM_TEMPLATE_CATEGORY" val="custom"/>
  <p:tag name="KSO_WM_TEMPLATE_INDEX" val="20203157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61B13"/>
      </a:dk2>
      <a:lt2>
        <a:srgbClr val="F2F4F0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1411</Words>
  <Application>Microsoft Office PowerPoint</Application>
  <PresentationFormat>宽屏</PresentationFormat>
  <Paragraphs>144</Paragraphs>
  <Slides>22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8" baseType="lpstr">
      <vt:lpstr>等线</vt:lpstr>
      <vt:lpstr>方正粗黑宋简体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01 课程项目</vt:lpstr>
      <vt:lpstr>01 课程项目</vt:lpstr>
      <vt:lpstr>01 课程项目</vt:lpstr>
      <vt:lpstr>02 记录评价</vt:lpstr>
      <vt:lpstr>PowerPoint 演示文稿</vt:lpstr>
      <vt:lpstr>01 思想成长类</vt:lpstr>
      <vt:lpstr>02 实践工作类</vt:lpstr>
      <vt:lpstr>03 志愿公益类</vt:lpstr>
      <vt:lpstr>04 创新创业类</vt:lpstr>
      <vt:lpstr>04 创新创业类</vt:lpstr>
      <vt:lpstr>05 文体活动类</vt:lpstr>
      <vt:lpstr>06 技能特长类</vt:lpstr>
      <vt:lpstr>06 技能特长类</vt:lpstr>
      <vt:lpstr>PowerPoint 演示文稿</vt:lpstr>
      <vt:lpstr>注意事项</vt:lpstr>
      <vt:lpstr>注意事项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黄圣</dc:creator>
  <cp:lastModifiedBy>圣 黄</cp:lastModifiedBy>
  <cp:revision>68</cp:revision>
  <dcterms:created xsi:type="dcterms:W3CDTF">2024-10-20T05:44:05Z</dcterms:created>
  <dcterms:modified xsi:type="dcterms:W3CDTF">2024-10-22T10:22:14Z</dcterms:modified>
</cp:coreProperties>
</file>